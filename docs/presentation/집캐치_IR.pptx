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문장: "청약 정보는 이미 다 공개돼 있습니다. 문제는 아무도 못 읽는다는 겁니다."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문장은 슬라이드를 보지 않고 외워서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828800"/>
            <a:ext cx="5852160" cy="5852160"/>
          </a:xfrm>
          <a:prstGeom prst="ellipse">
            <a:avLst/>
          </a:prstGeom>
          <a:solidFill>
            <a:srgbClr val="17375E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206240"/>
            <a:ext cx="2651760" cy="265176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96596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spc="-2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</a:t>
            </a:r>
            <a:endParaRPr lang="en-US" sz="8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520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청약, 감이 아니라 데이터로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6D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청약홈 공공데이터를 실수요자의 판단으로 바꾸는 서비스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394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6D87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IR 핵심 요약  ·  10장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41248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8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공개돼 있지만, 아무도 읽지 못한다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2763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 데이터는 100% 공개 — 병목은 접근성이 아니라 해석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337560" cy="1920240"/>
          </a:xfrm>
          <a:prstGeom prst="roundRect">
            <a:avLst>
              <a:gd name="adj" fmla="val 7619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97280" y="26060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흩어짐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 API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43400" y="2286000"/>
            <a:ext cx="3337560" cy="1920240"/>
          </a:xfrm>
          <a:prstGeom prst="roundRect">
            <a:avLst>
              <a:gd name="adj" fmla="val 7619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09160" y="26060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코드값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읽을 수 없는 원본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0" y="2286000"/>
            <a:ext cx="3337560" cy="1920240"/>
          </a:xfrm>
          <a:prstGeom prst="roundRect">
            <a:avLst>
              <a:gd name="adj" fmla="val 7619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21040" y="26060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 공백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카더라가 대체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4846320"/>
            <a:ext cx="10698480" cy="822960"/>
          </a:xfrm>
          <a:prstGeom prst="roundRect">
            <a:avLst>
              <a:gd name="adj" fmla="val 17778"/>
            </a:avLst>
          </a:prstGeom>
          <a:solidFill>
            <a:srgbClr val="FFF1E9"/>
          </a:solidFill>
          <a:ln w="12700">
            <a:solidFill>
              <a:srgbClr val="FF6B2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88720" y="484632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34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비대칭이 아니라 해석 비대칭 — 여기가 시장이다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SOLUTION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41248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8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코드값을 판단 문장으로 바꾼다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2763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데이터, 다른 결과물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5212080" cy="2834640"/>
          </a:xfrm>
          <a:prstGeom prst="roundRect">
            <a:avLst>
              <a:gd name="adj" fmla="val 5161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14300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30175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LWET_SCORE : 52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AVRG_SCORE : 58.2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SUBSCRPT_AREA_CODE : 100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45262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 API 원본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08192" y="3520440"/>
            <a:ext cx="411480" cy="411480"/>
          </a:xfrm>
          <a:prstGeom prst="rightArrow">
            <a:avLst/>
          </a:prstGeom>
          <a:solidFill>
            <a:srgbClr val="FF6B2C"/>
          </a:solidFill>
          <a:ln/>
        </p:spPr>
      </p:sp>
      <p:sp>
        <p:nvSpPr>
          <p:cNvPr id="10" name="Shape 8"/>
          <p:cNvSpPr/>
          <p:nvPr/>
        </p:nvSpPr>
        <p:spPr>
          <a:xfrm>
            <a:off x="6720840" y="2286000"/>
            <a:ext cx="4709160" cy="2834640"/>
          </a:xfrm>
          <a:prstGeom prst="roundRect">
            <a:avLst>
              <a:gd name="adj" fmla="val 5161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13232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2971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당첨 확률 78%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36118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3D4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가점 64점은 최근 커트라인보다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3D4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12점 여유가 있습니다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4617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E96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출력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394960"/>
            <a:ext cx="10698480" cy="822960"/>
          </a:xfrm>
          <a:prstGeom prst="roundRect">
            <a:avLst>
              <a:gd name="adj" fmla="val 17778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39496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리스트를 더 주지 않는다 — 좌표를 준다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41248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8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5개를 한 화면에서 끝낸다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2763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 5개 = 실수요자의 의사결정 5단계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10698480" cy="658368"/>
          </a:xfrm>
          <a:prstGeom prst="roundRect">
            <a:avLst>
              <a:gd name="adj" fmla="val 22222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4128" y="2432304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24128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2860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분양정보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286000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넣을 수 있는 게 뭐지?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31520" y="3054096"/>
            <a:ext cx="10698480" cy="658368"/>
          </a:xfrm>
          <a:prstGeom prst="roundRect">
            <a:avLst>
              <a:gd name="adj" fmla="val 22222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24128" y="3200400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24128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05409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경쟁률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3054096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단지, 얼마나 몰리지?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3822192"/>
            <a:ext cx="10698480" cy="658368"/>
          </a:xfrm>
          <a:prstGeom prst="roundRect">
            <a:avLst>
              <a:gd name="adj" fmla="val 22222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24128" y="3968496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24128" y="3968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82219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핫플레이스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114800" y="3822192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지역이 과열됐지?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31520" y="4590288"/>
            <a:ext cx="10698480" cy="658368"/>
          </a:xfrm>
          <a:prstGeom prst="roundRect">
            <a:avLst>
              <a:gd name="adj" fmla="val 22222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24128" y="4736592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24128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645920" y="459028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당첨자 통계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0" y="4590288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누가 됐지?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31520" y="5358384"/>
            <a:ext cx="10698480" cy="658368"/>
          </a:xfrm>
          <a:prstGeom prst="roundRect">
            <a:avLst>
              <a:gd name="adj" fmla="val 22222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24128" y="5504688"/>
            <a:ext cx="365760" cy="36576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24128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645920" y="535838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예측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4114800" y="5358384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나는 될까?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한 줄이 이 서비스의 존재 이유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73152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41248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8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3개로 내 위치를 계산한다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2763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가점 84점 체계 →「주택공급에 관한 규칙」별표1 기준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377440"/>
            <a:ext cx="3200400" cy="868680"/>
          </a:xfrm>
          <a:prstGeom prst="roundRect">
            <a:avLst>
              <a:gd name="adj" fmla="val 16842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무주택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237744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7년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31520" y="3429000"/>
            <a:ext cx="3200400" cy="868680"/>
          </a:xfrm>
          <a:prstGeom prst="roundRect">
            <a:avLst>
              <a:gd name="adj" fmla="val 16842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51560" y="342900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부양가족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342900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2명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1520" y="4480560"/>
            <a:ext cx="3200400" cy="868680"/>
          </a:xfrm>
          <a:prstGeom prst="roundRect">
            <a:avLst>
              <a:gd name="adj" fmla="val 16842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051560" y="44805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448056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9년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206240" y="3566160"/>
            <a:ext cx="411480" cy="411480"/>
          </a:xfrm>
          <a:prstGeom prst="rightArrow">
            <a:avLst/>
          </a:prstGeom>
          <a:solidFill>
            <a:srgbClr val="FF6B2C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2377440"/>
            <a:ext cx="3017520" cy="2788920"/>
          </a:xfrm>
          <a:prstGeom prst="roundRect">
            <a:avLst>
              <a:gd name="adj" fmla="val 5246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846320" y="29260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64</a:t>
            </a:r>
            <a:endParaRPr lang="en-US" sz="76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4114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FB6D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가점 / 84점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001000" y="3566160"/>
            <a:ext cx="411480" cy="411480"/>
          </a:xfrm>
          <a:prstGeom prst="rightArrow">
            <a:avLst/>
          </a:prstGeom>
          <a:solidFill>
            <a:srgbClr val="FF6B2C"/>
          </a:solidFill>
          <a:ln/>
        </p:spPr>
      </p:sp>
      <p:sp>
        <p:nvSpPr>
          <p:cNvPr id="19" name="Shape 17"/>
          <p:cNvSpPr/>
          <p:nvPr/>
        </p:nvSpPr>
        <p:spPr>
          <a:xfrm>
            <a:off x="8641080" y="2377440"/>
            <a:ext cx="2788920" cy="2788920"/>
          </a:xfrm>
          <a:prstGeom prst="roundRect">
            <a:avLst>
              <a:gd name="adj" fmla="val 5246"/>
            </a:avLst>
          </a:prstGeom>
          <a:solidFill>
            <a:srgbClr val="FFF1E9"/>
          </a:solidFill>
          <a:ln w="12700">
            <a:solidFill>
              <a:srgbClr val="FFF1E9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641080" y="292608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78%</a:t>
            </a:r>
            <a:endParaRPr lang="en-US" sz="6000" dirty="0"/>
          </a:p>
        </p:txBody>
      </p:sp>
      <p:sp>
        <p:nvSpPr>
          <p:cNvPr id="21" name="Text 19"/>
          <p:cNvSpPr txBox="1"/>
          <p:nvPr/>
        </p:nvSpPr>
        <p:spPr>
          <a:xfrm>
            <a:off x="8641080" y="41148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34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당첨 가능성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31520" y="5394960"/>
            <a:ext cx="10698480" cy="822960"/>
          </a:xfrm>
          <a:prstGeom prst="roundRect">
            <a:avLst>
              <a:gd name="adj" fmla="val 17778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88720" y="539496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맞히는 게 아니라, 왜 그 숫자인지 설명한다 — 커트라인 대비 12점 여유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POSITIONING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41248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8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아무도 개인화 판단을 하지 않는다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2763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해석 깊이 × 개인화 — 우상단이 비어 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566160" y="2514600"/>
            <a:ext cx="7863840" cy="3017520"/>
          </a:xfrm>
          <a:prstGeom prst="rect">
            <a:avLst/>
          </a:prstGeom>
          <a:solidFill>
            <a:srgbClr val="F6F9FC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566160" y="4023360"/>
            <a:ext cx="7863840" cy="0"/>
          </a:xfrm>
          <a:prstGeom prst="line">
            <a:avLst/>
          </a:prstGeom>
          <a:noFill/>
          <a:ln w="12700">
            <a:solidFill>
              <a:srgbClr val="D8E2EE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7498080" y="2514600"/>
            <a:ext cx="0" cy="3017520"/>
          </a:xfrm>
          <a:prstGeom prst="line">
            <a:avLst/>
          </a:prstGeom>
          <a:noFill/>
          <a:ln w="12700">
            <a:solidFill>
              <a:srgbClr val="D8E2EE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3566160" y="566013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개인화 판단  →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21305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↑  해석 깊이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11650" y="3445459"/>
            <a:ext cx="310896" cy="310896"/>
          </a:xfrm>
          <a:prstGeom prst="ellipse">
            <a:avLst/>
          </a:prstGeom>
          <a:solidFill>
            <a:srgbClr val="17375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97250" y="3829507"/>
            <a:ext cx="2139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청약홈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769864" y="4350715"/>
            <a:ext cx="310896" cy="310896"/>
          </a:xfrm>
          <a:prstGeom prst="ellipse">
            <a:avLst/>
          </a:prstGeom>
          <a:solidFill>
            <a:srgbClr val="8A99A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55464" y="4734763"/>
            <a:ext cx="2139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부동산 포털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71739" y="4833518"/>
            <a:ext cx="310896" cy="310896"/>
          </a:xfrm>
          <a:prstGeom prst="ellipse">
            <a:avLst/>
          </a:prstGeom>
          <a:solidFill>
            <a:srgbClr val="8A99A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057339" y="5217566"/>
            <a:ext cx="2139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573768" y="2713939"/>
            <a:ext cx="566928" cy="566928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59368" y="3354019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" y="2240280"/>
            <a:ext cx="2194560" cy="1572768"/>
          </a:xfrm>
          <a:prstGeom prst="roundRect">
            <a:avLst>
              <a:gd name="adj" fmla="val 9302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60120" y="2468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사분면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29260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D4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원천 데이터 위에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D4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판단을 얹는 층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31520" y="4069080"/>
            <a:ext cx="2194560" cy="1572768"/>
          </a:xfrm>
          <a:prstGeom prst="roundRect">
            <a:avLst>
              <a:gd name="adj" fmla="val 9302"/>
            </a:avLst>
          </a:prstGeom>
          <a:solidFill>
            <a:srgbClr val="FFF1E9"/>
          </a:solidFill>
          <a:ln w="12700">
            <a:solidFill>
              <a:srgbClr val="FFF1E9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60120" y="4297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4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진입장벽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7548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34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사용자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34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가점 분포 데이터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청약홈을 대체하지 않는다 — 읽어준다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TARGET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41248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8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공고는 매달 본다, 못 정할 뿐이다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2763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집을 노리는 2030 무주택 실수요자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5669280" cy="3017520"/>
          </a:xfrm>
          <a:prstGeom prst="roundRect">
            <a:avLst>
              <a:gd name="adj" fmla="val 4848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188720" y="26974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28세 · 수도권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 7년차 · 가점 60점 초반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40690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"넣어야 할지를 모르겠다"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675120" y="2286000"/>
            <a:ext cx="4754880" cy="914400"/>
          </a:xfrm>
          <a:prstGeom prst="roundRect">
            <a:avLst>
              <a:gd name="adj" fmla="val 16000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949440" y="22860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원하는 것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503920" y="22860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리스트가 아니라 내 위치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675120" y="3337560"/>
            <a:ext cx="4754880" cy="914400"/>
          </a:xfrm>
          <a:prstGeom prst="roundRect">
            <a:avLst>
              <a:gd name="adj" fmla="val 16000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949440" y="33375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전환점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D-5 알림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675120" y="4389120"/>
            <a:ext cx="4754880" cy="914400"/>
          </a:xfrm>
          <a:prstGeom prst="roundRect">
            <a:avLst>
              <a:gd name="adj" fmla="val 16000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949440" y="43891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확장 경로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503920" y="43891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당첨 후 손익까지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31520" y="5394960"/>
            <a:ext cx="10698480" cy="822960"/>
          </a:xfrm>
          <a:prstGeom prst="roundRect">
            <a:avLst>
              <a:gd name="adj" fmla="val 17778"/>
            </a:avLst>
          </a:prstGeom>
          <a:solidFill>
            <a:srgbClr val="FFF1E9"/>
          </a:solidFill>
          <a:ln w="12700">
            <a:solidFill>
              <a:srgbClr val="FF6B2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88720" y="539496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34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비싼 실수는 떨어지는 게 아니라 모르고 지나치는 것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BUSINESS MODEL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41248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8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무료로 모으고, 판단으로 과금하고, 데이터로 번다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2763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단계가 실제 매출 축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3429000" cy="25603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51560" y="331927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666744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확장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42976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기능 무료 공개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· 가점 데이터 확보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52120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7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지표 — MAU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2606040"/>
            <a:ext cx="3429000" cy="3017520"/>
          </a:xfrm>
          <a:prstGeom prst="roundRect">
            <a:avLst>
              <a:gd name="adj" fmla="val 4848"/>
            </a:avLst>
          </a:prstGeom>
          <a:solidFill>
            <a:srgbClr val="17375E"/>
          </a:solidFill>
          <a:ln w="12700">
            <a:solidFill>
              <a:srgbClr val="17375E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754880" y="286207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3209544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구독 전환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38404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3D4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알림 · 정밀 리포트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3D4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특공 자격 진단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47548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지표 — 유료 전환율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2148840"/>
            <a:ext cx="3429000" cy="3474720"/>
          </a:xfrm>
          <a:prstGeom prst="roundRect">
            <a:avLst>
              <a:gd name="adj" fmla="val 42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52400" dist="25400" dir="5400000">
              <a:srgbClr val="A8B6C8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458200" y="240487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458200" y="2752344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B2B 데이터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3832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3D4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시행사 · 분양대행사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3D4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수요 · 가점 분포 분석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42976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지표 — 계약 단지 수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남긴 가점 · 관심단지 데이터는 경쟁사가 복제할 수 없다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ROADMAP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41248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8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정확도부터 손익까지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2763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취약점은 지적당하기 전에 먼저 올린다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280160" y="3200400"/>
            <a:ext cx="9601200" cy="0"/>
          </a:xfrm>
          <a:prstGeom prst="line">
            <a:avLst/>
          </a:prstGeom>
          <a:noFill/>
          <a:ln w="25400">
            <a:solidFill>
              <a:srgbClr val="D8E2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37360" y="2926080"/>
            <a:ext cx="548640" cy="54864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73736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36576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가점 로직 정합화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41605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선형 근사 → 별표1 구간표</a:t>
            </a:r>
            <a:endParaRPr lang="en-US" sz="13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0점 · 1년 미만 오차 제거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806440" y="2926080"/>
            <a:ext cx="548640" cy="548640"/>
          </a:xfrm>
          <a:prstGeom prst="ellipse">
            <a:avLst/>
          </a:prstGeom>
          <a:solidFill>
            <a:srgbClr val="17375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36576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알림 · 자가진단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41605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D-3 푸시</a:t>
            </a:r>
            <a:endParaRPr lang="en-US" sz="13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특공 자격 진단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875520" y="2926080"/>
            <a:ext cx="548640" cy="54864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8755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549640" y="36576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당첨 후 손익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41605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실거래가 · 전월세 결합</a:t>
            </a:r>
            <a:endParaRPr lang="en-US" sz="13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"얼마인가"까지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5303520"/>
            <a:ext cx="10698480" cy="822960"/>
          </a:xfrm>
          <a:prstGeom prst="roundRect">
            <a:avLst>
              <a:gd name="adj" fmla="val 17778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88720" y="530352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정확도는 신뢰의 전부 — 그래서 Q1이 정확도다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291840"/>
            <a:ext cx="5120640" cy="5120640"/>
          </a:xfrm>
          <a:prstGeom prst="ellipse">
            <a:avLst/>
          </a:prstGeom>
          <a:solidFill>
            <a:srgbClr val="17375E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188720"/>
            <a:ext cx="3200400" cy="32004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88720" y="182880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FB6D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청약은 되돌릴 수 없는 결정입니다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514600"/>
            <a:ext cx="9784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집을 잡는 건</a:t>
            </a:r>
            <a:endParaRPr lang="en-US" sz="4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운이 아니라 기준입니다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466344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공개된 데이터를, 읽을 수 있는 판단으로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562356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7E96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·  JibCatch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집캐치 IR</dc:title>
  <dc:subject>PptxGenJS Presentation</dc:subject>
  <dc:creator>JibCatch</dc:creator>
  <cp:lastModifiedBy>JibCatch</cp:lastModifiedBy>
  <cp:revision>1</cp:revision>
  <dcterms:created xsi:type="dcterms:W3CDTF">2026-09-16T10:10:36Z</dcterms:created>
  <dcterms:modified xsi:type="dcterms:W3CDTF">2026-09-16T10:10:36Z</dcterms:modified>
</cp:coreProperties>
</file>