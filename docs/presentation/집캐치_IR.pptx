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문장: "공고는 전부 공개돼 있습니다. 그런데 내가 지금 넣을 수 있는 게 뭔지는 아무도 안 알려줍니다."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슬라이드를 보지 않고 외워서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286000"/>
            <a:ext cx="2743200" cy="0"/>
          </a:xfrm>
          <a:prstGeom prst="line">
            <a:avLst/>
          </a:prstGeom>
          <a:noFill/>
          <a:ln w="38100">
            <a:solidFill>
              <a:srgbClr val="A83A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514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-2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8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977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 · 공공임대 통합 탐색 서비스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526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 1회로 지원 가능 공고를 선별합니다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5257800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440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 · LH청약플러스 공공데이터 기반   |   IR 요약자료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공개, 판단은 부재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전량 공개되어 있으나, 개인 조건 기준의 선별 수단이 존재하지 않습니다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337560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분산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5844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분양은 청약홈, 임대는 LH청약플러스로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이원화. 단일 조회 수단 부재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23160"/>
            <a:ext cx="3337560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 기능 부재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5844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· 예산 · 면적 · 가구형태 기준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선별 기능 미제공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01000" y="2423160"/>
            <a:ext cx="3337560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관리 공백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5844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· 서류 · 발표 · 계약 일정이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공고문 내부에만 존재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10607040" cy="96012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4440" y="48920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접근성이 아닌 판단 지원의 부재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 1회 → 지원 가능 후보 선별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공고 데이터에서 검증 가능한 판단 근거를 생성합니다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1206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1546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B3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모집공고 제12차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B3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공급유형 국민임대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B3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전용면적 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B3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보증금 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B3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접수 2026.09.18~09.20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53328" y="3657600"/>
            <a:ext cx="411480" cy="365760"/>
          </a:xfrm>
          <a:prstGeom prst="rightArrow">
            <a:avLst/>
          </a:prstGeom>
          <a:solidFill>
            <a:srgbClr val="A83A2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423160"/>
            <a:ext cx="4709160" cy="2743200"/>
          </a:xfrm>
          <a:prstGeom prst="roundRect">
            <a:avLst>
              <a:gd name="adj" fmla="val 6667"/>
            </a:avLst>
          </a:prstGeom>
          <a:solidFill>
            <a:srgbClr val="14110C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후보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· 예산 이내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749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D2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29㎡ — 희망 최소 28㎡ 대비 +1㎡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D2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3,200만원 — 상한 8,000만원 이내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D2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마감 D-3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54406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근거를 점수 구간이 아닌 실측값 차이로 제시 — 「+1㎡」 「4,800만원 초과」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 사용자 여정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방문부터 재방문까지 단일 흐름으로 설계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1206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5511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14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열람 전 서비스 가치 인지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51206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7856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/analyze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187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→ 주거비 → 가구 · 선호 3단계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51206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50200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확인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/results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422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· 예산 초과 분리 제시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2423160"/>
            <a:ext cx="51206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5511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514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· 알림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/saved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관심공고 저장 및 알림 수신 설정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657600"/>
            <a:ext cx="51206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37856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187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기반 계정 생성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4892040"/>
            <a:ext cx="51206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75120" y="50200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알림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269480" y="5422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공고 · 마감 임박 알림으로 재유입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CRM은 내부 운영 자산이며 소비자 판매 상품이 아님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4축 분리 판정 구조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점수 통합 시 예산 초과 건이 상위 노출되는 구조적 오류가 발생합니다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10607040" cy="786384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2734056"/>
            <a:ext cx="164592" cy="164592"/>
          </a:xfrm>
          <a:prstGeom prst="ellipse">
            <a:avLst/>
          </a:prstGeom>
          <a:solidFill>
            <a:srgbClr val="7D63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35608" y="2423160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4231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요건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42316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엔진 도입 전 전 건 UNKNOWN 처리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미확인을 불충족으로 단정하지 않음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319272"/>
            <a:ext cx="10607040" cy="786384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" y="3630168"/>
            <a:ext cx="164592" cy="164592"/>
          </a:xfrm>
          <a:prstGeom prst="ellipse">
            <a:avLst/>
          </a:prstGeom>
          <a:solidFill>
            <a:srgbClr val="1411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35608" y="3319272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31927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정한 상한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319272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후보의 필수 조건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초과 건은 초과액 명시 후 별도 반환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215384"/>
            <a:ext cx="10607040" cy="786384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4526280"/>
            <a:ext cx="164592" cy="164592"/>
          </a:xfrm>
          <a:prstGeom prst="ellipse">
            <a:avLst/>
          </a:prstGeom>
          <a:solidFill>
            <a:srgbClr val="3D5F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35608" y="4215384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선호 적합도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421538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50 · 면적 25 · 유형 25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4215384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 조건과의 근접도만 산출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5111496"/>
            <a:ext cx="10607040" cy="786384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4712" y="5422392"/>
            <a:ext cx="164592" cy="164592"/>
          </a:xfrm>
          <a:prstGeom prst="ellipse">
            <a:avLst/>
          </a:prstGeom>
          <a:solidFill>
            <a:srgbClr val="A83A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35608" y="5111496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긴급도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511149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지표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51114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적합도 점수에 가산하지 않음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내 최고 채도는 마감 정보에 한정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신뢰성 확보 원칙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부동산 서비스의 신뢰 훼손 요인을 사전 차단합니다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12064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243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877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당첨 확률 미산출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0815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데이터 기준 개인별 확률 산출 근거 부재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당첨가점 비교만 제공, 표본 부재 시 자료 부족 표기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423160"/>
            <a:ext cx="512064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6243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5877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결측값 미보완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0815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 분양정보의 전용면적 · 보증금 · 월임대료는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null 유지 후 「미공개」로 표기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251960"/>
            <a:ext cx="512064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453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416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구분 표기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103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 기한은 OFFICIAL,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역산 준비일은 RECOMMENDED 로 구분 표기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251960"/>
            <a:ext cx="512064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4453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416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실패 미은폐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9103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실패 시 sources[] 에 원문 그대로 반영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 데이터로 대체하지 않음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 · 임대 통합 수집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이원화된 공고 출처를 단일 서비스로 통합합니다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10607040" cy="749808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231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42316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 모집공고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89720" y="24231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공공데이터포털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10607040" cy="749808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291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LH 청약플러스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29184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국민임대 · 행복주택 · 매입임대 · 통합공공임대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3291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공공데이터포털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160520"/>
            <a:ext cx="10607040" cy="749808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1605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416052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직접 등록 공고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41605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업로드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029200"/>
            <a:ext cx="10607040" cy="749808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50292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50292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구성용 합성 데이터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50292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dataOrigin: SYNTHETIC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943600"/>
            <a:ext cx="10607040" cy="566928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34440" y="594360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공고는 「공식 공고」, 합성 데이터는 「예시 공고」로 구분 표기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운영 자동화 — Claude Routines 12종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 단위 운영 업무를 정시 자동 수행 구조로 전환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07:00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상태 점검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809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07:30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9809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데이터 품질 점검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84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08:00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임박 고객 알림 · 메일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087368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87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08:30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CRM 운영 브리핑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690872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914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09:05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7914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추천 공고 알림 · 메일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294376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09:30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연락할 고객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5897880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10:00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고의도 고객 감지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2880360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29809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10:30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9809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 진행 고객 점검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3483864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3584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18:00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전환 퍼널 점검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4087368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4187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매시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4187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변경 감시 · 발송 실패 재처리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55080" y="4690872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47914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47914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CRM KPI 리포트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5080" y="5294376"/>
            <a:ext cx="5029200" cy="0"/>
          </a:xfrm>
          <a:prstGeom prst="line">
            <a:avLst/>
          </a:prstGeom>
          <a:noFill/>
          <a:ln w="9525">
            <a:solidFill>
              <a:srgbClr val="E2DB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394960"/>
            <a:ext cx="5120640" cy="1051560"/>
          </a:xfrm>
          <a:prstGeom prst="roundRect">
            <a:avLst>
              <a:gd name="adj" fmla="val 17391"/>
            </a:avLst>
          </a:prstGeom>
          <a:solidFill>
            <a:srgbClr val="14110C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0" y="53949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실데이터 조회 · Gmail 발송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이력 자동 적재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77240" y="932688"/>
            <a:ext cx="10607040" cy="0"/>
          </a:xfrm>
          <a:prstGeom prst="line">
            <a:avLst/>
          </a:prstGeom>
          <a:noFill/>
          <a:ln w="12700">
            <a:solidFill>
              <a:srgbClr val="E2DB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수익화 모델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3단계가 실질 매출 축에 해당합니다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338328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849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확장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434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기능 무료 제공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· 관심공고 데이터 확보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5303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— 월간 활성 사용자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788920"/>
            <a:ext cx="3383280" cy="29718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392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전환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977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알림 · 정밀 후보 리포트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B3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자가진단 유료화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— 유료 전환율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2331720"/>
            <a:ext cx="3383280" cy="3429000"/>
          </a:xfrm>
          <a:prstGeom prst="roundRect">
            <a:avLst>
              <a:gd name="adj" fmla="val 5405"/>
            </a:avLst>
          </a:prstGeom>
          <a:solidFill>
            <a:srgbClr val="14110C"/>
          </a:solidFill>
          <a:ln w="12700">
            <a:solidFill>
              <a:srgbClr val="E2DB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935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데이터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D2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시행사 · 분양대행사 대상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D2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 · 조건 분포 분석 제공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— 계약 단지 수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축적된 조건 · 관심공고 데이터는 경쟁사 복제가 불가능한 자산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4698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68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2194560"/>
            <a:ext cx="3749040" cy="0"/>
          </a:xfrm>
          <a:prstGeom prst="line">
            <a:avLst/>
          </a:prstGeom>
          <a:noFill/>
          <a:ln w="38100">
            <a:solidFill>
              <a:srgbClr val="A83A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24688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A91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이미 공개되어 있습니다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06324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부재한 것은 정보가 아니라</a:t>
            </a:r>
            <a:endParaRPr lang="en-US" sz="4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선별의 기준입니다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0292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집캐치는 그 기준을 제공합니다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8521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7A72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  ·  ZipCatch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집캐치 IR</dc:title>
  <dc:subject>PptxGenJS Presentation</dc:subject>
  <dc:creator>ZipCatch</dc:creator>
  <cp:lastModifiedBy>ZipCatch</cp:lastModifiedBy>
  <cp:revision>1</cp:revision>
  <dcterms:created xsi:type="dcterms:W3CDTF">2026-09-17T03:05:56Z</dcterms:created>
  <dcterms:modified xsi:type="dcterms:W3CDTF">2026-09-17T03:05:57Z</dcterms:modified>
</cp:coreProperties>
</file>