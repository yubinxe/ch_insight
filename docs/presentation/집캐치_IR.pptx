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문장: "공고는 전부 공개돼 있습니다. 그런데 내가 지금 넣을 수 있는 게 뭔지는 아무도 안 알려줍니다."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문장은 슬라이드를 보지 않고 외워서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2286000"/>
            <a:ext cx="2743200" cy="0"/>
          </a:xfrm>
          <a:prstGeom prst="line">
            <a:avLst/>
          </a:prstGeom>
          <a:noFill/>
          <a:ln w="38100">
            <a:solidFill>
              <a:srgbClr val="A83A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5146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-2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8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청약·공공임대 공고를 찾는 일반 소비자를 위한 서비스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526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조건을 한 번 입력하면 지금 지원할 수 있는 후보를 정리해 준다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5257800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5440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· LH청약플러스 공공데이터   |   IR 핵심 요약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공개돼 있지만, 내 것을 못 고른다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공고는 청약홈·LH에 다 있다. 없는 것은 "나에게 맞는가"에 대한 답이다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3337560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697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0632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곳이 다르다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58444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분양은 청약홈, 임대는 LH청약플러스.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두 곳을 오간다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23160"/>
            <a:ext cx="3337560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697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0632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안 걸린다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58444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지역·예산·면적·가구형태를 넣어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걸러주는 화면이 없다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01000" y="2423160"/>
            <a:ext cx="3337560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697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0632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일정이 흩어진다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584448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접수·서류·발표·계약이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공고문 안에만 적혀 있다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" y="4892040"/>
            <a:ext cx="10607040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34440" y="489204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정보가 없는 게 아니라, 판단이 없다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한 번, 후보 정리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공고 데이터, 다른 결과물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2743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 원문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315468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3B35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모집공고 제12차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3B35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공급유형 국민임대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3B35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전용면적 —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3B35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보증금 —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3B35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접수 2026.09.18~09.20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53328" y="3657600"/>
            <a:ext cx="411480" cy="365760"/>
          </a:xfrm>
          <a:prstGeom prst="rightArrow">
            <a:avLst/>
          </a:prstGeom>
          <a:solidFill>
            <a:srgbClr val="A83A2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423160"/>
            <a:ext cx="4709160" cy="2743200"/>
          </a:xfrm>
          <a:prstGeom prst="roundRect">
            <a:avLst>
              <a:gd name="adj" fmla="val 6667"/>
            </a:avLst>
          </a:prstGeom>
          <a:solidFill>
            <a:srgbClr val="14110C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후보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154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충족 · 예산 이내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7490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8D2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 29㎡ — 희망 최소 28㎡보다 1㎡ 넓음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8D2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3,200만원 — 상한 8,000만원 이내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8D2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마감 D-3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34440" y="54406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근거는 점수 구간이 아니라 실제 값 차이로 쓴다 — "1㎡ 넓음", "4,800만원 초과"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소비자는 여섯 걸음만 걷는다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 → 조건 입력 → 후보 확인 → 관심·알림 → 가입 → 재방문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5511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514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953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 없이도 무엇을 해주는지 보인다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65760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378561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749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입력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794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/analyze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→ 주거비 → 가구·선호 3단계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89204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02005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확인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/results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54223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 충족 / 예산 초과를 분리해 보여준다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55080" y="242316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25511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2514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관심·알림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/saved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2953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관심공고 저장, 알림 수신 선택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55080" y="365760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378561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3749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3794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/login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4187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이메일로 계정 생성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89204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75120" y="502005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269480" y="4983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732520" y="5029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알림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69480" y="54223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공고·마감 임박이 오면 다시 들어온다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943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CRM은 사업자가 내부에서 쓰는 자산이다. 소비자에게 파는 관리도구가 아니다.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섞지 않는다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점수로 합치면 "예산 초과인데 점수가 높은" 결과가 나온다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10607040" cy="786384"/>
          </a:xfrm>
          <a:prstGeom prst="roundRect">
            <a:avLst>
              <a:gd name="adj" fmla="val 23256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4712" y="2734056"/>
            <a:ext cx="164592" cy="164592"/>
          </a:xfrm>
          <a:prstGeom prst="ellipse">
            <a:avLst/>
          </a:prstGeom>
          <a:solidFill>
            <a:srgbClr val="7D632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5608" y="2423160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423160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요건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532120" y="2423160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 엔진 전까지 전부 UNKNOWN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미확인을 불충족으로 단정하지 않는다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" y="3319272"/>
            <a:ext cx="10607040" cy="786384"/>
          </a:xfrm>
          <a:prstGeom prst="roundRect">
            <a:avLst>
              <a:gd name="adj" fmla="val 23256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4712" y="3630168"/>
            <a:ext cx="164592" cy="164592"/>
          </a:xfrm>
          <a:prstGeom prst="ellipse">
            <a:avLst/>
          </a:prstGeom>
          <a:solidFill>
            <a:srgbClr val="14110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35608" y="3319272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319272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정한 상한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532120" y="3319272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후보의 필수조건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 건은 초과액과 함께 별도 반환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4215384"/>
            <a:ext cx="10607040" cy="786384"/>
          </a:xfrm>
          <a:prstGeom prst="roundRect">
            <a:avLst>
              <a:gd name="adj" fmla="val 23256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4712" y="4526280"/>
            <a:ext cx="164592" cy="164592"/>
          </a:xfrm>
          <a:prstGeom prst="ellipse">
            <a:avLst/>
          </a:prstGeom>
          <a:solidFill>
            <a:srgbClr val="3D5F4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35608" y="4215384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선호 적합도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4215384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50 · 면적 25 · 유형 25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4215384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희망과 얼마나 가까운가만 본다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77240" y="5111496"/>
            <a:ext cx="10607040" cy="786384"/>
          </a:xfrm>
          <a:prstGeom prst="roundRect">
            <a:avLst>
              <a:gd name="adj" fmla="val 23256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24712" y="5422392"/>
            <a:ext cx="164592" cy="164592"/>
          </a:xfrm>
          <a:prstGeom prst="ellipse">
            <a:avLst/>
          </a:prstGeom>
          <a:solidFill>
            <a:srgbClr val="A83A2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35608" y="5111496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긴급도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5111496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지표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5111496"/>
            <a:ext cx="5852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적합도를 올리지 않는다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가장 붉은 것은 항상 마감이다.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만들지 않는 것이 경쟁력이다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부동산 서비스가 신뢰를 잃는 지점을 먼저 닫았다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243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877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확률을 산출하지 않는다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0815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당첨가점과의 비교만 제공한다.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표본이 0이면 임의 평균을 만들지 않고 자료 부족으로 표시한다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423160"/>
            <a:ext cx="512064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20840" y="26243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5877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 값을 채우지 않는다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0815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분양정보에는 전용면적·보증금·월세가 없다.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null 로 남기고 "미공개"로 쓴다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4251960"/>
            <a:ext cx="512064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4531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4165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일정을 지어내지 않는다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9103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 원문의 기한은 OFFICIAL,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역산한 준비일은 RECOMMENDED 로 구분해 표시한다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4251960"/>
            <a:ext cx="512064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0840" y="44531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4165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실패를 예시로 덮지 않는다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49103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수집이 실패하면 sources[] 에 그대로 보고한다.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합성 데이터로 가리지 않는다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분양과 임대를 한자리에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두 사이트를 오가지 않게 한다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10607040" cy="749808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231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2316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 모집공고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89720" y="24231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291840"/>
            <a:ext cx="10607040" cy="749808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91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LH 청약플러스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국민임대 · 행복주택 · 매입임대 · 통합공공임대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189720" y="3291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160520"/>
            <a:ext cx="10607040" cy="749808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1605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CSV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416052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올린 공고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41605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업로드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5029200"/>
            <a:ext cx="10607040" cy="749808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50292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502920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구성용 합성 데이터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50292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dataOrigin: SYNTHETIC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943600"/>
            <a:ext cx="10607040" cy="566928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34440" y="5943600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수집된 실제 공고는 「공식 공고」, 합성 데이터는 「예시 공고」로 화면에 표시한다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운영은 사람이 지키지 않는다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Routines 12개가 CRM 운영 업무를 매일 대신 수행한다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상태 점검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9809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07:30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9809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 데이터 품질 점검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5844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08:00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35844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임박 고객 알림 · 메일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4087368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8795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08:30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1879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CRM 운영 브리핑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7914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09:05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828800" y="47914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추천 공고 알림 · 메일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" y="5294376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09:30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5394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연락할 고객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5897880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5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10:00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고의도 고객 감지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55080" y="2880360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29809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10:30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29809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진행 고객 점검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55080" y="3483864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55080" y="35844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18:00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35844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전환 퍼널 점검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355080" y="4087368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418795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매시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41879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 변경 감시 · 발송 실패 재처리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355080" y="4690872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47914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월요일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47914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CRM KPI 리포트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355080" y="5294376"/>
            <a:ext cx="5029200" cy="0"/>
          </a:xfrm>
          <a:prstGeom prst="line">
            <a:avLst/>
          </a:prstGeom>
          <a:noFill/>
          <a:ln w="9525">
            <a:solidFill>
              <a:srgbClr val="E2DB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55080" y="5394960"/>
            <a:ext cx="5120640" cy="1051560"/>
          </a:xfrm>
          <a:prstGeom prst="roundRect">
            <a:avLst>
              <a:gd name="adj" fmla="val 17391"/>
            </a:avLst>
          </a:prstGeom>
          <a:solidFill>
            <a:srgbClr val="14110C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675120" y="5394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CRM 실데이터 조회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Gmail 실발송 · 실행 이력 누적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77240" y="932688"/>
            <a:ext cx="10607040" cy="0"/>
          </a:xfrm>
          <a:prstGeom prst="line">
            <a:avLst/>
          </a:prstGeom>
          <a:noFill/>
          <a:ln w="12700">
            <a:solidFill>
              <a:srgbClr val="E2DB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7899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무료로 모으고, 판단으로 과금하고, 데이터로 번다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단계가 실제 매출 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246120"/>
            <a:ext cx="3383280" cy="25146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8496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확장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기능 무료 공개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조건·관심공고 데이터 확보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5303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월간 활성 사용자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2788920"/>
            <a:ext cx="3383280" cy="29718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3924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 전환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977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알림 · 정밀 후보 리포트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B35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 자가진단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846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유료 전환율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2440" y="2331720"/>
            <a:ext cx="3383280" cy="3429000"/>
          </a:xfrm>
          <a:prstGeom prst="roundRect">
            <a:avLst>
              <a:gd name="adj" fmla="val 5405"/>
            </a:avLst>
          </a:prstGeom>
          <a:solidFill>
            <a:srgbClr val="14110C"/>
          </a:solidFill>
          <a:ln w="12700">
            <a:solidFill>
              <a:srgbClr val="E2DB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2587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9352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데이터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520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D8D2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시행사 · 분양대행사 대상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D8D2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수요·조건 분포 분석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계약 단지 수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남긴 조건·관심공고는 경쟁사가 복제할 수 없는 자산이 된다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46988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68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0" y="2194560"/>
            <a:ext cx="3749040" cy="0"/>
          </a:xfrm>
          <a:prstGeom prst="line">
            <a:avLst/>
          </a:prstGeom>
          <a:noFill/>
          <a:ln w="38100">
            <a:solidFill>
              <a:srgbClr val="A83A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246888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A91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공고는 이미 공개돼 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3063240"/>
            <a:ext cx="9784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 것은 정보가 아니라</a:t>
            </a:r>
            <a:endParaRPr lang="en-US" sz="4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것을 고르는 기준입니다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0292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3A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집캐치는 그 기준을 만듭니다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58521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7A72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·  ZipCatch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집캐치 IR</dc:title>
  <dc:subject>PptxGenJS Presentation</dc:subject>
  <dc:creator>ZipCatch</dc:creator>
  <cp:lastModifiedBy>ZipCatch</cp:lastModifiedBy>
  <cp:revision>1</cp:revision>
  <dcterms:created xsi:type="dcterms:W3CDTF">2026-09-17T02:27:24Z</dcterms:created>
  <dcterms:modified xsi:type="dcterms:W3CDTF">2026-09-17T02:27:24Z</dcterms:modified>
</cp:coreProperties>
</file>