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1F3A"/>
                </a:solidFill>
                <a:latin typeface="Pretendard"/>
              </a:defRPr>
            </a:pPr>
            <a:r>
              <a:rPr sz="1500" b="0" i="0" u="none" strike="noStrike">
                <a:solidFill>
                  <a:srgbClr val="0B1F3A"/>
                </a:solidFill>
                <a:latin typeface="Pretendard"/>
              </a:rPr>
              <a:t>청약가점 만점 84점의 구성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배점</c:v>
                </c:pt>
              </c:strCache>
            </c:strRef>
          </c:tx>
          <c:spPr>
            <a:solidFill>
              <a:srgbClr val="0B1F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B1F3A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1F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6B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7375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무주택 기간</c:v>
                  </c:pt>
                  <c:pt idx="1">
                    <c:v>부양가족 수</c:v>
                  </c:pt>
                  <c:pt idx="2">
                    <c:v>입주자저축
가입기간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</c:v>
                </c:pt>
                <c:pt idx="1">
                  <c:v>35</c:v>
                </c:pt>
                <c:pt idx="2">
                  <c:v>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0B1F3A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2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F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12700" cap="flat">
              <a:solidFill>
                <a:srgbClr val="EDF2F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9A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오프닝: 질문 → 2초 침묵 → "저도 몰랐습니다. 청약홈에 다 있는데 아무도 못 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블랙박스가 아니라 규칙 기반 — 왜 그 숫자인지 설명할 수 있다는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문장은 슬라이드를 보지 않고 외워서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645920"/>
            <a:ext cx="5486400" cy="5486400"/>
          </a:xfrm>
          <a:prstGeom prst="ellipse">
            <a:avLst/>
          </a:prstGeom>
          <a:solidFill>
            <a:srgbClr val="17375E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114800"/>
            <a:ext cx="2651760" cy="265176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15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 무주택 실수요자를 위한 청약 인텔리전스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7315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spc="-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</a:t>
            </a:r>
            <a:endParaRPr lang="en-US" sz="7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3580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spc="300" kern="0" dirty="0">
                <a:solidFill>
                  <a:srgbClr val="9FB6D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JibCatch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49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청약, 감이 아니라 데이터로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6D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청약홈 공공데이터로 분양정보 · 경쟁률 · 당첨 가능성을 한 화면에서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" y="512064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17375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5120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공공데이터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34640" y="512064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17375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834640" y="51206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당첨 예측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09160" y="512064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7375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09160" y="5120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전국 과열 지도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공개돼 있지만, 아무도 읽지 못한다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1790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청약 데이터는 이미 100% 공개 — 병목은 접근성이 아니라 해석 가능성이다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3419856" cy="2331720"/>
          </a:xfrm>
          <a:prstGeom prst="roundRect">
            <a:avLst>
              <a:gd name="adj" fmla="val 5490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450592"/>
            <a:ext cx="438912" cy="43891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4505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81912" y="245059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흩어져 있다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127248"/>
            <a:ext cx="27797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분양정보 · 경쟁률 · 당첨가점이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서로 다른 API와 화면에 흩어져 있다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70832" y="2148840"/>
            <a:ext cx="3419856" cy="2331720"/>
          </a:xfrm>
          <a:prstGeom prst="roundRect">
            <a:avLst>
              <a:gd name="adj" fmla="val 5490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90872" y="2450592"/>
            <a:ext cx="438912" cy="43891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90872" y="24505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66944" y="245059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읽히지 않는다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90872" y="3127248"/>
            <a:ext cx="27797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원본은 SUBSCRPT_AREA_CODE,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LWET_SCORE 같은 코드값 테이블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55864" y="2148840"/>
            <a:ext cx="3419856" cy="2331720"/>
          </a:xfrm>
          <a:prstGeom prst="roundRect">
            <a:avLst>
              <a:gd name="adj" fmla="val 5490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75904" y="2450592"/>
            <a:ext cx="438912" cy="43891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75904" y="24505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51976" y="245059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판단이 없다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375904" y="3127248"/>
            <a:ext cx="27797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"내 가점으로 될까?"에 답하는 곳이 없다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자리를 커뮤니티 카더라가 채운다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85800" y="4800600"/>
            <a:ext cx="10789920" cy="804672"/>
          </a:xfrm>
          <a:prstGeom prst="roundRect">
            <a:avLst>
              <a:gd name="adj" fmla="val 15909"/>
            </a:avLst>
          </a:prstGeom>
          <a:solidFill>
            <a:srgbClr val="FFF1E9"/>
          </a:solidFill>
          <a:ln w="12700">
            <a:solidFill>
              <a:srgbClr val="FF6B2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4800600"/>
            <a:ext cx="9966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B34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비대칭이 아니라 해석 비대칭 — 집캐치가 공격하는 지점입니다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56132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TARGET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공고는 매달 본다, 지원 여부를 못 정할 뿐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1790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집을 노리는 2030 무주택 실수요자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5532120" cy="3246120"/>
          </a:xfrm>
          <a:prstGeom prst="roundRect">
            <a:avLst>
              <a:gd name="adj" fmla="val 3944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7280" y="246888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6B2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7280" y="246888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페르소나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01752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28세 · 수도권 거주</a:t>
            </a:r>
            <a:endParaRPr lang="en-US" sz="2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청약통장 7년차 · 가점 60점 초반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425196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i="1" dirty="0">
                <a:solidFill>
                  <a:srgbClr val="C3D4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"공고는 매번 본다, 그런데 넣어야 할지를 모르겠다"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46520" y="2148840"/>
            <a:ext cx="5029200" cy="978408"/>
          </a:xfrm>
          <a:prstGeom prst="roundRect">
            <a:avLst>
              <a:gd name="adj" fmla="val 13084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766560" y="2148840"/>
            <a:ext cx="1600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원하는 것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2148840"/>
            <a:ext cx="29260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매물 리스트가 아니라 내 위치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46520" y="3282696"/>
            <a:ext cx="5029200" cy="978408"/>
          </a:xfrm>
          <a:prstGeom prst="roundRect">
            <a:avLst>
              <a:gd name="adj" fmla="val 13084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766560" y="3282696"/>
            <a:ext cx="1600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 기준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3282696"/>
            <a:ext cx="29260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커트라인 대비 여유 점수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46520" y="4416552"/>
            <a:ext cx="5029200" cy="978408"/>
          </a:xfrm>
          <a:prstGeom prst="roundRect">
            <a:avLst>
              <a:gd name="adj" fmla="val 13084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766560" y="4416552"/>
            <a:ext cx="1600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전환점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4416552"/>
            <a:ext cx="29260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임박 D-5 알림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623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리스트를 더 주는 서비스는 많다 — 집캐치는 좌표를 준다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6132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SOLUTION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5개를 한 화면에서 끝낸다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1790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 5개는 기능 5개가 아니라 실수요자의 의사결정 5단계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10789920" cy="667512"/>
          </a:xfrm>
          <a:prstGeom prst="roundRect">
            <a:avLst>
              <a:gd name="adj" fmla="val 19178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58568"/>
            <a:ext cx="438912" cy="43891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2585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148840"/>
            <a:ext cx="24688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분양정보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160520" y="2148840"/>
            <a:ext cx="70408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넣을 수 있는 게 뭐지?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" y="2935224"/>
            <a:ext cx="10789920" cy="667512"/>
          </a:xfrm>
          <a:prstGeom prst="roundRect">
            <a:avLst>
              <a:gd name="adj" fmla="val 19178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60120" y="3044952"/>
            <a:ext cx="438912" cy="43891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30449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935224"/>
            <a:ext cx="24688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경쟁률 현황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160520" y="2935224"/>
            <a:ext cx="70408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단지, 얼마나 몰리지?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5800" y="3721608"/>
            <a:ext cx="10789920" cy="667512"/>
          </a:xfrm>
          <a:prstGeom prst="roundRect">
            <a:avLst>
              <a:gd name="adj" fmla="val 19178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60120" y="3831336"/>
            <a:ext cx="438912" cy="43891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38313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3721608"/>
            <a:ext cx="24688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핫플레이스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4160520" y="3721608"/>
            <a:ext cx="70408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지역이 과열됐지?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85800" y="4507992"/>
            <a:ext cx="10789920" cy="667512"/>
          </a:xfrm>
          <a:prstGeom prst="roundRect">
            <a:avLst>
              <a:gd name="adj" fmla="val 19178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60120" y="4617720"/>
            <a:ext cx="438912" cy="43891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0120" y="46177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4507992"/>
            <a:ext cx="24688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당첨자 통계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4160520" y="4507992"/>
            <a:ext cx="70408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누가 됐지?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85800" y="5294376"/>
            <a:ext cx="10789920" cy="667512"/>
          </a:xfrm>
          <a:prstGeom prst="roundRect">
            <a:avLst>
              <a:gd name="adj" fmla="val 19178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60120" y="5404104"/>
            <a:ext cx="438912" cy="43891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60120" y="54041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600200" y="5294376"/>
            <a:ext cx="24688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당첨 예측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4160520" y="5294376"/>
            <a:ext cx="70408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나는 될까?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612648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한 줄이 이 서비스의 존재 이유입니다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056132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17375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1783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2004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6D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보여주고, 무엇을 판단해 주는가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5기능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70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기술과 운영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70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시장과 성장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 01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놓치지 않게 만드는 D-day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1790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히어로 캐러셀 + KPI 4종 · 마감임박 클릭 시 해당 목록 즉시 전개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3886200" cy="3200400"/>
          </a:xfrm>
          <a:prstGeom prst="roundRect">
            <a:avLst>
              <a:gd name="adj" fmla="val 400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2560320"/>
            <a:ext cx="3886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0" b="1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D-5</a:t>
            </a:r>
            <a:endParaRPr lang="en-US" sz="9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02336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3D4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접수 종료 5일 이내를</a:t>
            </a:r>
            <a:endParaRPr lang="en-US" sz="15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3D4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임박으로 정의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892040" y="2148840"/>
            <a:ext cx="6583680" cy="713232"/>
          </a:xfrm>
          <a:prstGeom prst="roundRect">
            <a:avLst>
              <a:gd name="adj" fmla="val 17949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212080" y="214884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접수중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040880" y="214884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신청 가능한 공고 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92040" y="2990088"/>
            <a:ext cx="6583680" cy="713232"/>
          </a:xfrm>
          <a:prstGeom prst="roundRect">
            <a:avLst>
              <a:gd name="adj" fmla="val 17949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212080" y="2990088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마감임박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040880" y="299008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D-5 이내 — 클릭 시 목록 전개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92040" y="3831336"/>
            <a:ext cx="6583680" cy="713232"/>
          </a:xfrm>
          <a:prstGeom prst="roundRect">
            <a:avLst>
              <a:gd name="adj" fmla="val 17949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212080" y="3831336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공급세대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383133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 기간 내 공급 물량 합계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892040" y="4672584"/>
            <a:ext cx="6583680" cy="713232"/>
          </a:xfrm>
          <a:prstGeom prst="roundRect">
            <a:avLst>
              <a:gd name="adj" fmla="val 17949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12080" y="4672584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갱신시각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4672584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신선도를 화면에 노출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85800" y="5532120"/>
            <a:ext cx="10789920" cy="804672"/>
          </a:xfrm>
          <a:prstGeom prst="roundRect">
            <a:avLst>
              <a:gd name="adj" fmla="val 15909"/>
            </a:avLst>
          </a:prstGeom>
          <a:solidFill>
            <a:srgbClr val="FFF1E9"/>
          </a:solidFill>
          <a:ln w="12700">
            <a:solidFill>
              <a:srgbClr val="FF6B2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5532120"/>
            <a:ext cx="9966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B34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청약에서 가장 비싼 실수는 떨어지는 게 아니라 모르고 지나치는 것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56132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 02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평균이 아니라 분포를 본다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1790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특별공급과 일반공급은 모수도 자격도 다르다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5166360" cy="2377440"/>
          </a:xfrm>
          <a:prstGeom prst="roundRect">
            <a:avLst>
              <a:gd name="adj" fmla="val 5385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특별공급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88036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신혼부부 · 생애최초 · 다자녀 · 노부모부양 등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자격 요건이 좁고 모수가 작다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61188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737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 물량이 작아 경쟁률 변동성이 크다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737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자격 판정이 지원 여부를 먼저 결정한다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2148840"/>
            <a:ext cx="5166360" cy="2377440"/>
          </a:xfrm>
          <a:prstGeom prst="roundRect">
            <a:avLst>
              <a:gd name="adj" fmla="val 5385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675120" y="23774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일반공급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288036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가점제와 추첨제가 혼재한다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모수가 크고 변동 폭이 넓다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361188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737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가점제 비율은 주택형 · 지역별로 다르다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737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추첨제는 가점과 무관한 별도 전략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" y="4754880"/>
            <a:ext cx="10789920" cy="804672"/>
          </a:xfrm>
          <a:prstGeom prst="roundRect">
            <a:avLst>
              <a:gd name="adj" fmla="val 15909"/>
            </a:avLst>
          </a:prstGeom>
          <a:solidFill>
            <a:srgbClr val="FFF1E9"/>
          </a:solidFill>
          <a:ln w="12700">
            <a:solidFill>
              <a:srgbClr val="FF6B2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754880"/>
            <a:ext cx="9966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B34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합산 평균 경쟁률은 실수요자를 오도한다 — 두 값을 분리해 저장·표시한다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제공 단위   지역별 평균 경쟁률  ·  공고번호 기준 단지 상세  ·  주택형별 경쟁률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56132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 03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어디가 과열됐는지 3초에 안다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1790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시·도 SVG 경계 히트맵 + 단지 마커 · 줌 · 팬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5486400" cy="3337560"/>
          </a:xfrm>
          <a:prstGeom prst="roundRect">
            <a:avLst>
              <a:gd name="adj" fmla="val 3836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97280" y="24231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좌표 없는 데이터를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지도로 만드는 법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566160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C3D4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청약홈 API에는 위경도가 없다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C3D4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지역코드 → 시·도 bbox 매핑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C3D4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자체 레이아웃 알고리즘으로 마커 배치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C3D4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경쟁률 → 색 강도(heat level) 환산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2148840"/>
            <a:ext cx="5120640" cy="1005840"/>
          </a:xfrm>
          <a:prstGeom prst="roundRect">
            <a:avLst>
              <a:gd name="adj" fmla="val 12727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75120" y="2286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줌 · 팬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26791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수도권까지 확대해 단지 단위로 탐색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55080" y="3319272"/>
            <a:ext cx="5120640" cy="1005840"/>
          </a:xfrm>
          <a:prstGeom prst="roundRect">
            <a:avLst>
              <a:gd name="adj" fmla="val 12727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67512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호버 툴팁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84962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 · 단지 경쟁률 즉시 확인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55080" y="4489704"/>
            <a:ext cx="5120640" cy="1005840"/>
          </a:xfrm>
          <a:prstGeom prst="roundRect">
            <a:avLst>
              <a:gd name="adj" fmla="val 12727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675120" y="46268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Bottom Sheet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502005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모바일에서 목록을 끌어올려 조회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7150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아니라 소요 시간으로 말한다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56132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 04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소문을 숫자로 바꾼다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1790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연령별 · 지역별 신청자 대비 당첨자, 가점 분포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2496312" cy="1783080"/>
          </a:xfrm>
          <a:prstGeom prst="roundRect">
            <a:avLst>
              <a:gd name="adj" fmla="val 7179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5800" y="2377440"/>
            <a:ext cx="2496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017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당첨 가점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364992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E96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AVRG_SCORE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56432" y="2148840"/>
            <a:ext cx="2496312" cy="1783080"/>
          </a:xfrm>
          <a:prstGeom prst="roundRect">
            <a:avLst>
              <a:gd name="adj" fmla="val 7179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456432" y="2377440"/>
            <a:ext cx="2496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최저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456432" y="3017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당첨 가점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56432" y="3364992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E96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LWET_SCORE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27064" y="2148840"/>
            <a:ext cx="2496312" cy="1783080"/>
          </a:xfrm>
          <a:prstGeom prst="roundRect">
            <a:avLst>
              <a:gd name="adj" fmla="val 7179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227064" y="2377440"/>
            <a:ext cx="2496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최고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227064" y="3017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당첨 가점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227064" y="3364992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E96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TOP_SCORE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97696" y="2148840"/>
            <a:ext cx="2496312" cy="1783080"/>
          </a:xfrm>
          <a:prstGeom prst="roundRect">
            <a:avLst>
              <a:gd name="adj" fmla="val 7179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997696" y="2377440"/>
            <a:ext cx="2496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중위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997696" y="301752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당첨 가점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997696" y="3364992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E96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MED_SCORE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5800" y="4206240"/>
            <a:ext cx="10789920" cy="1417320"/>
          </a:xfrm>
          <a:prstGeom prst="roundRect">
            <a:avLst>
              <a:gd name="adj" fmla="val 9032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1097280" y="440740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"요즘 60점으론 안 된다"는 말 — 여기서 월 단위로 검증된다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495604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통계에 기준월(STAT_DE)과 표본 수를 함께 노출 — 인용 가능한 형태로 제공한다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8521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  공공데이터포털 청약홈 OpenAPI · 한국부동산원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56132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FEATURE 05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서비스의 심장 — AI 당첨 예측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1790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 입력 → 84점 가점 환산 → 지역 당첨 분포와 비교 → 확률 + 근거 문장</a:t>
            </a:r>
            <a:endParaRPr lang="en-US" sz="14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85800" y="2103120"/>
          <a:ext cx="53492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355080" y="2148840"/>
            <a:ext cx="5120640" cy="777240"/>
          </a:xfrm>
          <a:prstGeom prst="roundRect">
            <a:avLst>
              <a:gd name="adj" fmla="val 16471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83680" y="2322576"/>
            <a:ext cx="438912" cy="43891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583680" y="23225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150608" y="214884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019288" y="21488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무주택 기간 · 부양가족 · 통장 가입기간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355080" y="3063240"/>
            <a:ext cx="5120640" cy="777240"/>
          </a:xfrm>
          <a:prstGeom prst="roundRect">
            <a:avLst>
              <a:gd name="adj" fmla="val 16471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83680" y="3236976"/>
            <a:ext cx="438912" cy="43891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83680" y="32369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150608" y="306324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019288" y="30632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「주택공급에 관한 규칙」 별표1 기준 84점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355080" y="3977640"/>
            <a:ext cx="5120640" cy="777240"/>
          </a:xfrm>
          <a:prstGeom prst="roundRect">
            <a:avLst>
              <a:gd name="adj" fmla="val 16471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583680" y="4151376"/>
            <a:ext cx="438912" cy="43891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83680" y="4151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150608" y="397764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019288" y="39776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지역별 최근 당첨 가점 평균 · 최저 · 최고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355080" y="4892040"/>
            <a:ext cx="5120640" cy="777240"/>
          </a:xfrm>
          <a:prstGeom prst="roundRect">
            <a:avLst>
              <a:gd name="adj" fmla="val 16471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583680" y="5065776"/>
            <a:ext cx="438912" cy="43891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83680" y="50657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150608" y="489204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해석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019288" y="48920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확률 5~94% + 커트라인 대비 여유 점수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355080" y="5852160"/>
            <a:ext cx="5120640" cy="384048"/>
          </a:xfrm>
          <a:prstGeom prst="roundRect">
            <a:avLst>
              <a:gd name="adj" fmla="val 23810"/>
            </a:avLst>
          </a:prstGeom>
          <a:solidFill>
            <a:srgbClr val="FFF1E9"/>
          </a:solidFill>
          <a:ln w="12700">
            <a:solidFill>
              <a:srgbClr val="FF6B2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55080" y="585216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34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맞히는 게 아니라 설명 가능한 기준선을 준다</a:t>
            </a:r>
            <a:endParaRPr lang="en-US" sz="1250" dirty="0"/>
          </a:p>
        </p:txBody>
      </p:sp>
      <p:sp>
        <p:nvSpPr>
          <p:cNvPr id="29" name="Text 25"/>
          <p:cNvSpPr txBox="1"/>
          <p:nvPr/>
        </p:nvSpPr>
        <p:spPr>
          <a:xfrm>
            <a:off x="68580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1056132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17375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1783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2004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기술과 운영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6D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무엇으로 만들었고, 어떻게 안전하게 돌리는가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70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5기능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기술과 운영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70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시장과 성장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키는 서버에, 캐시는 엣지에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1790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Next.js 16 App Router · React 19 · TypeScript · Tailwind v4 · Recharts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3337560" cy="192024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60120" y="239572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청약홈 OpenAPI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9260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공공데이터포털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한국부동산원 통계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151376" y="2953512"/>
            <a:ext cx="246888" cy="310896"/>
          </a:xfrm>
          <a:prstGeom prst="rightArrow">
            <a:avLst/>
          </a:prstGeom>
          <a:solidFill>
            <a:srgbClr val="FF6B2C"/>
          </a:solidFill>
          <a:ln/>
        </p:spPr>
      </p:sp>
      <p:sp>
        <p:nvSpPr>
          <p:cNvPr id="9" name="Shape 7"/>
          <p:cNvSpPr/>
          <p:nvPr/>
        </p:nvSpPr>
        <p:spPr>
          <a:xfrm>
            <a:off x="4617720" y="2148840"/>
            <a:ext cx="3337560" cy="1920240"/>
          </a:xfrm>
          <a:prstGeom prst="roundRect">
            <a:avLst>
              <a:gd name="adj" fmla="val 666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892040" y="239572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Next.js Route Handler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9260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D4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app/api/* — API 키 서버 보관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D4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revalidate 300~600초 캐싱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83296" y="2953512"/>
            <a:ext cx="246888" cy="310896"/>
          </a:xfrm>
          <a:prstGeom prst="rightArrow">
            <a:avLst/>
          </a:prstGeom>
          <a:solidFill>
            <a:srgbClr val="FF6B2C"/>
          </a:solidFill>
          <a:ln/>
        </p:spPr>
      </p:sp>
      <p:sp>
        <p:nvSpPr>
          <p:cNvPr id="13" name="Shape 11"/>
          <p:cNvSpPr/>
          <p:nvPr/>
        </p:nvSpPr>
        <p:spPr>
          <a:xfrm>
            <a:off x="8549640" y="2148840"/>
            <a:ext cx="3337560" cy="1920240"/>
          </a:xfrm>
          <a:prstGeom prst="roundRect">
            <a:avLst>
              <a:gd name="adj" fmla="val 6667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823960" y="239572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클라이언트 대시보드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823960" y="29260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 단위 dynamic import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ssr:false — 초기 번들 최소화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4544568"/>
            <a:ext cx="182880" cy="18288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33272" y="443484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키 노출 0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4434840"/>
            <a:ext cx="8092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외부 호출은 서버 라우트에서만 수행 — 클라이언트 번들에 키가 들어가지 않는다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" y="5166360"/>
            <a:ext cx="182880" cy="18288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33272" y="50566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호출량 제어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383280" y="5056632"/>
            <a:ext cx="8092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revalidate 캐시(경쟁률 600초 / 분양정보 300초)로 공공 API 쿼터와 응답 지연을 동시에 억제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85800" y="5788152"/>
            <a:ext cx="182880" cy="18288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33272" y="5678424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타입 안전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5678424"/>
            <a:ext cx="8092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 API 원본 필드를 lib/types.ts 에 명시적으로 선언해 코드값 해석을 한 곳에 모았다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56132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LIVE DEMO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3분, 클릭 7번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1790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순서가 아니라 사용자의 판단 순서로 보여준다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5166360" cy="841248"/>
          </a:xfrm>
          <a:prstGeom prst="roundRect">
            <a:avLst>
              <a:gd name="adj" fmla="val 15217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41832" y="2350008"/>
            <a:ext cx="438912" cy="43891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1832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240280"/>
            <a:ext cx="4206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진입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06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이 숫자는 실시간 공공데이터다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3108960"/>
            <a:ext cx="5166360" cy="841248"/>
          </a:xfrm>
          <a:prstGeom prst="roundRect">
            <a:avLst>
              <a:gd name="adj" fmla="val 15217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41832" y="3310128"/>
            <a:ext cx="438912" cy="43891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41832" y="33101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200400"/>
            <a:ext cx="4206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마감임박 KPI 클릭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5661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D-5 이내만 걸러진다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4069080"/>
            <a:ext cx="5166360" cy="841248"/>
          </a:xfrm>
          <a:prstGeom prst="roundRect">
            <a:avLst>
              <a:gd name="adj" fmla="val 15217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41832" y="4270248"/>
            <a:ext cx="438912" cy="43891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41832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160520"/>
            <a:ext cx="4206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단지 상세 진입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526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공고 원문 대신 필요한 것만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5029200"/>
            <a:ext cx="5166360" cy="841248"/>
          </a:xfrm>
          <a:prstGeom prst="roundRect">
            <a:avLst>
              <a:gd name="adj" fmla="val 15217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41832" y="5230368"/>
            <a:ext cx="438912" cy="43891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41832" y="5230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5120640"/>
            <a:ext cx="4206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경쟁률 탭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5486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특공과 일반을 분리해서 본다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09360" y="2148840"/>
            <a:ext cx="5166360" cy="841248"/>
          </a:xfrm>
          <a:prstGeom prst="roundRect">
            <a:avLst>
              <a:gd name="adj" fmla="val 15217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65392" y="2350008"/>
            <a:ext cx="438912" cy="43891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65392" y="2350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0" y="2240280"/>
            <a:ext cx="4206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핫플레이스 → 수도권 줌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7132320" y="2606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과열이 어디로 이동하는지 보인다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108960"/>
            <a:ext cx="5166360" cy="841248"/>
          </a:xfrm>
          <a:prstGeom prst="roundRect">
            <a:avLst>
              <a:gd name="adj" fmla="val 15217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565392" y="3310128"/>
            <a:ext cx="438912" cy="438912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565392" y="33101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3200400"/>
            <a:ext cx="4206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예측 · 7년 / 2명 / 9년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7132320" y="35661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이게 제 조건이다 — 64점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309360" y="4069080"/>
            <a:ext cx="5166360" cy="841248"/>
          </a:xfrm>
          <a:prstGeom prst="roundRect">
            <a:avLst>
              <a:gd name="adj" fmla="val 1521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565392" y="4270248"/>
            <a:ext cx="438912" cy="43891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565392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0" y="4160520"/>
            <a:ext cx="4206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게이지</a:t>
            </a:r>
            <a:endParaRPr lang="en-US" sz="1450" dirty="0"/>
          </a:p>
        </p:txBody>
      </p:sp>
      <p:sp>
        <p:nvSpPr>
          <p:cNvPr id="39" name="Text 37"/>
          <p:cNvSpPr txBox="1"/>
          <p:nvPr/>
        </p:nvSpPr>
        <p:spPr>
          <a:xfrm>
            <a:off x="7132320" y="4526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확률보다 커트라인 대비 여유 점수를 보라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309360" y="5074920"/>
            <a:ext cx="5166360" cy="685800"/>
          </a:xfrm>
          <a:prstGeom prst="roundRect">
            <a:avLst>
              <a:gd name="adj" fmla="val 16000"/>
            </a:avLst>
          </a:prstGeom>
          <a:solidFill>
            <a:srgbClr val="FFF1E9"/>
          </a:solidFill>
          <a:ln w="12700">
            <a:solidFill>
              <a:srgbClr val="FF6B2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309360" y="5074920"/>
            <a:ext cx="5166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43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안전장치 — 로딩 3초 초과 시 즉시 녹화본 전환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1056132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280160"/>
            <a:ext cx="4754880" cy="4754880"/>
          </a:xfrm>
          <a:prstGeom prst="ellipse">
            <a:avLst/>
          </a:prstGeom>
          <a:solidFill>
            <a:srgbClr val="17375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1783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2004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시장과 성장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6D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지금이고, 어디서 돈이 나오는가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70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5기능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61188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70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기술과 운영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5029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시장과 성장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POSITIONING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청약홈을 대체하지 않는다, 읽어준다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1790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원천 데이터는 공공이, 해석과 판단은 집캐치가</a:t>
            </a:r>
            <a:endParaRPr lang="en-US" sz="14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48840"/>
          <a:ext cx="107899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828800"/>
                <a:gridCol w="2057400"/>
                <a:gridCol w="2240280"/>
                <a:gridCol w="201168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청약홈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부동산 포털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커뮤니티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집캐치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B1F3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원천 데이터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B1F3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◎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B1F3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△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B1F3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✕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6B2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◎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B1F3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해석 · 시각화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B1F3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✕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B1F3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△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B1F3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△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6B2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◎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B1F3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개인화 판단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B1F3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✕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B1F3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✕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B1F3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△ (비검증)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6B2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◎ (근거 제시)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B1F3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갱신 주기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B1F3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실시간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B1F3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수동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B1F3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비정형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6B2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실시간 + 캐시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5349240"/>
            <a:ext cx="10789920" cy="804672"/>
          </a:xfrm>
          <a:prstGeom prst="roundRect">
            <a:avLst>
              <a:gd name="adj" fmla="val 15909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5349240"/>
            <a:ext cx="9966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진입장벽은 기능이 아니라 누적 사용자 가점 분포 데이터에서 생긴다</a:t>
            </a:r>
            <a:endParaRPr lang="en-US" sz="16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56132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ROADMAP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정확도부터 손익까지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1790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취약점은 지적당하기 전에 먼저 올린다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3419856" cy="32004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423160"/>
            <a:ext cx="777240" cy="365760"/>
          </a:xfrm>
          <a:prstGeom prst="roundRect">
            <a:avLst>
              <a:gd name="adj" fmla="val 50000"/>
            </a:avLst>
          </a:prstGeom>
          <a:solidFill>
            <a:srgbClr val="FF6B2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42316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852928"/>
            <a:ext cx="2779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가점 로직 완전 정합화</a:t>
            </a:r>
            <a:endParaRPr lang="en-US" sz="185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611880"/>
            <a:ext cx="2779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선형 근사를 「주택공급에 관한 규칙」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별표1 구간표로 교체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0점 · 1년 미만 구간 오차 제거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70832" y="2148840"/>
            <a:ext cx="3419856" cy="32004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90872" y="2423160"/>
            <a:ext cx="777240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90872" y="242316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90872" y="2852928"/>
            <a:ext cx="2779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알림 · 자가진단</a:t>
            </a:r>
            <a:endParaRPr lang="en-US" sz="1850" dirty="0"/>
          </a:p>
        </p:txBody>
      </p:sp>
      <p:sp>
        <p:nvSpPr>
          <p:cNvPr id="14" name="Text 12"/>
          <p:cNvSpPr txBox="1"/>
          <p:nvPr/>
        </p:nvSpPr>
        <p:spPr>
          <a:xfrm>
            <a:off x="4690872" y="3611880"/>
            <a:ext cx="2779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관심단지 마감 D-3 푸시 알림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특별공급 자격 자가진단 플로우 추가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55864" y="2148840"/>
            <a:ext cx="3419856" cy="3200400"/>
          </a:xfrm>
          <a:prstGeom prst="roundRect">
            <a:avLst>
              <a:gd name="adj" fmla="val 4000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75904" y="2423160"/>
            <a:ext cx="777240" cy="365760"/>
          </a:xfrm>
          <a:prstGeom prst="roundRect">
            <a:avLst>
              <a:gd name="adj" fmla="val 50000"/>
            </a:avLst>
          </a:prstGeom>
          <a:solidFill>
            <a:srgbClr val="17375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75904" y="242316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375904" y="2852928"/>
            <a:ext cx="2779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당첨 후 손익까지</a:t>
            </a:r>
            <a:endParaRPr lang="en-US" sz="1850" dirty="0"/>
          </a:p>
        </p:txBody>
      </p:sp>
      <p:sp>
        <p:nvSpPr>
          <p:cNvPr id="19" name="Text 17"/>
          <p:cNvSpPr txBox="1"/>
          <p:nvPr/>
        </p:nvSpPr>
        <p:spPr>
          <a:xfrm>
            <a:off x="8375904" y="3611880"/>
            <a:ext cx="2779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실거래가 · 전월세 데이터 결합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당첨되면 얼마인지까지 확장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562356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정확도는 신뢰의 전부 — 그래서 Q1이 정확도다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056132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BUSINESS MODEL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04672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무료로 모으고, 판단으로 과금하고, 데이터로 번다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517904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 수익화 — 마지막 단계가 실제 매출 축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3419856" cy="2697480"/>
          </a:xfrm>
          <a:prstGeom prst="roundRect">
            <a:avLst>
              <a:gd name="adj" fmla="val 4746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05840" y="2377440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697480"/>
            <a:ext cx="2779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확장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246120"/>
            <a:ext cx="27797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기능 무료 공개로 사용자 · 가점 입력 데이터 확보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315968"/>
            <a:ext cx="2779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7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지표 — 월간 활성 사용자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187952" y="3310128"/>
            <a:ext cx="228600" cy="274320"/>
          </a:xfrm>
          <a:prstGeom prst="rightArrow">
            <a:avLst/>
          </a:prstGeom>
          <a:solidFill>
            <a:srgbClr val="FF6B2C"/>
          </a:solidFill>
          <a:ln/>
        </p:spPr>
      </p:sp>
      <p:sp>
        <p:nvSpPr>
          <p:cNvPr id="11" name="Shape 9"/>
          <p:cNvSpPr/>
          <p:nvPr/>
        </p:nvSpPr>
        <p:spPr>
          <a:xfrm>
            <a:off x="4370832" y="2148840"/>
            <a:ext cx="3419856" cy="2697480"/>
          </a:xfrm>
          <a:prstGeom prst="roundRect">
            <a:avLst>
              <a:gd name="adj" fmla="val 4746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690872" y="2377440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690872" y="2697480"/>
            <a:ext cx="2779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구독 전환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4690872" y="3246120"/>
            <a:ext cx="27797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3D4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관심단지 알림 · 정밀 당첨 리포트 · 특공 자격 진단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690872" y="4315968"/>
            <a:ext cx="2779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지표 — 유료 전환율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872984" y="3310128"/>
            <a:ext cx="228600" cy="274320"/>
          </a:xfrm>
          <a:prstGeom prst="rightArrow">
            <a:avLst/>
          </a:prstGeom>
          <a:solidFill>
            <a:srgbClr val="FF6B2C"/>
          </a:solidFill>
          <a:ln/>
        </p:spPr>
      </p:sp>
      <p:sp>
        <p:nvSpPr>
          <p:cNvPr id="17" name="Shape 15"/>
          <p:cNvSpPr/>
          <p:nvPr/>
        </p:nvSpPr>
        <p:spPr>
          <a:xfrm>
            <a:off x="8055864" y="2148840"/>
            <a:ext cx="3419856" cy="2697480"/>
          </a:xfrm>
          <a:prstGeom prst="roundRect">
            <a:avLst>
              <a:gd name="adj" fmla="val 4746"/>
            </a:avLst>
          </a:prstGeom>
          <a:solidFill>
            <a:srgbClr val="EEF3F9"/>
          </a:solidFill>
          <a:ln w="12700">
            <a:solidFill>
              <a:srgbClr val="D8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A8B6C8">
                <a:alpha val="2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375904" y="2377440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375904" y="2697480"/>
            <a:ext cx="2779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B2B 데이터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8375904" y="3246120"/>
            <a:ext cx="27797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B6B7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시행사 · 분양대행사 대상 수요 · 가점 분포 분석 제공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375904" y="4315968"/>
            <a:ext cx="2779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37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지표 — 계약 단지 수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5800" y="5120640"/>
            <a:ext cx="10789920" cy="804672"/>
          </a:xfrm>
          <a:prstGeom prst="roundRect">
            <a:avLst>
              <a:gd name="adj" fmla="val 15909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97280" y="5120640"/>
            <a:ext cx="9966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남긴 가점 · 관심단지 데이터는 경쟁사가 복제할 수 없는 자산이 된다</a:t>
            </a:r>
            <a:endParaRPr lang="en-US" sz="16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6327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JibCatch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61320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99A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474720"/>
            <a:ext cx="4937760" cy="4937760"/>
          </a:xfrm>
          <a:prstGeom prst="ellipse">
            <a:avLst/>
          </a:prstGeom>
          <a:solidFill>
            <a:srgbClr val="17375E"/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-1097280"/>
            <a:ext cx="3108960" cy="310896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188720" y="169164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FB6D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청약은 되돌릴 수 없는 결정입니다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377440"/>
            <a:ext cx="9784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집을 잡는 건</a:t>
            </a:r>
            <a:endParaRPr lang="en-US" sz="4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운이 아니라 기준입니다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452628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B2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공개된 데이터를, 읽을 수 있는 판단으로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557784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7E96B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집캐치  ·  JibCatch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집캐치 발표자료</dc:title>
  <dc:subject>PptxGenJS Presentation</dc:subject>
  <dc:creator>JibCatch</dc:creator>
  <cp:lastModifiedBy>JibCatch</cp:lastModifiedBy>
  <cp:revision>1</cp:revision>
  <dcterms:created xsi:type="dcterms:W3CDTF">2026-09-16T01:13:23Z</dcterms:created>
  <dcterms:modified xsi:type="dcterms:W3CDTF">2026-09-16T01:13:23Z</dcterms:modified>
</cp:coreProperties>
</file>