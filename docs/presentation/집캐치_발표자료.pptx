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10243E"/>
                </a:solidFill>
                <a:latin typeface="맑은 고딕"/>
              </a:defRPr>
            </a:pPr>
            <a:r>
              <a:rPr sz="1500" b="0" i="0" u="none" strike="noStrike">
                <a:solidFill>
                  <a:srgbClr val="10243E"/>
                </a:solidFill>
                <a:latin typeface="맑은 고딕"/>
              </a:rPr>
              <a:t>청약가점 만점 84점의 구성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배점</c:v>
                </c:pt>
              </c:strCache>
            </c:strRef>
          </c:tx>
          <c:spPr>
            <a:solidFill>
              <a:srgbClr val="10243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0243E"/>
                    </a:solidFill>
                    <a:latin typeface="맑은 고딕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0243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7A4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C3A5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무주택 기간</c:v>
                  </c:pt>
                  <c:pt idx="1">
                    <c:v>부양가족 수</c:v>
                  </c:pt>
                  <c:pt idx="2">
                    <c:v>입주자저축
가입기간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32</c:v>
                </c:pt>
                <c:pt idx="1">
                  <c:v>35</c:v>
                </c:pt>
                <c:pt idx="2">
                  <c:v>17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400" u="none">
                  <a:solidFill>
                    <a:srgbClr val="10243E"/>
                  </a:solidFill>
                  <a:latin typeface="맑은 고딕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7D"/>
                </a:solidFill>
                <a:latin typeface="맑은 고딕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</c:scaling>
        <c:delete val="0"/>
        <c:axPos val="l"/>
        <c:majorGridlines>
          <c:spPr>
            <a:ln w="12700" cap="flat">
              <a:solidFill>
                <a:srgbClr val="EDF1F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오프닝 질문 → 2초 침묵 → "저도 몰랐습니다. 청약홈에 다 있는데 아무도 못 봅니다."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병목을 하나씩. 마지막 문장은 1.5초 쉬고 말한다.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심사위원이 좋아하는 문장: "맞히는 게 아니라 설명 가능한 기준선을 제공한다."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 문장은 슬라이드를 보지 않고 외워서 말한다.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4937760" cy="4937760"/>
          </a:xfrm>
          <a:prstGeom prst="ellipse">
            <a:avLst/>
          </a:prstGeom>
          <a:solidFill>
            <a:srgbClr val="1C3A5E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06240"/>
            <a:ext cx="2377440" cy="23774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783080"/>
            <a:ext cx="7315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-1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집캐치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063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7A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JibCatch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7490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8EE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청약, 감이 아니라 데이터로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4348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청약홈 공공데이터 기반 분양정보 · 경쟁률 · 당첨 예측 대시보드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024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정보는 공개돼 있는데, 쓸 수가 없다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청약 데이터는 이미 100% 공개 — 병목은 접근성이 아니라 해석 가능성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438144" cy="2743200"/>
          </a:xfrm>
          <a:prstGeom prst="roundRect">
            <a:avLst>
              <a:gd name="adj" fmla="val 4000"/>
            </a:avLst>
          </a:prstGeom>
          <a:solidFill>
            <a:srgbClr val="E8EEF6"/>
          </a:solidFill>
          <a:ln w="9525">
            <a:solidFill>
              <a:srgbClr val="D4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99A8BC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331720"/>
            <a:ext cx="420624" cy="420624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3317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35000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24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파편화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017520"/>
            <a:ext cx="28895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분양정보 · 경쟁률 · 당첨가점 · 지역통계가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서로 다른 API와 화면에 흩어져 있다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52544" y="2011680"/>
            <a:ext cx="3438144" cy="2743200"/>
          </a:xfrm>
          <a:prstGeom prst="roundRect">
            <a:avLst>
              <a:gd name="adj" fmla="val 4000"/>
            </a:avLst>
          </a:prstGeom>
          <a:solidFill>
            <a:srgbClr val="E8EEF6"/>
          </a:solidFill>
          <a:ln w="9525">
            <a:solidFill>
              <a:srgbClr val="D4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99A8BC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26864" y="2331720"/>
            <a:ext cx="420624" cy="420624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26864" y="23317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175504" y="235000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24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비가독성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4626864" y="3017520"/>
            <a:ext cx="28895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원본은 SUBSCRPT_AREA_CODE, LWET_SCORE 같은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코드값 테이블 — 실수요자가 읽을 형태가 아니다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65008" y="2011680"/>
            <a:ext cx="3438144" cy="2743200"/>
          </a:xfrm>
          <a:prstGeom prst="roundRect">
            <a:avLst>
              <a:gd name="adj" fmla="val 4000"/>
            </a:avLst>
          </a:prstGeom>
          <a:solidFill>
            <a:srgbClr val="E8EEF6"/>
          </a:solidFill>
          <a:ln w="9525">
            <a:solidFill>
              <a:srgbClr val="D4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99A8BC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39328" y="2331720"/>
            <a:ext cx="420624" cy="420624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39328" y="23317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887968" y="235000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24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 공백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8339328" y="3017520"/>
            <a:ext cx="28895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"내 가점으로 될까?"에 답하는 곳이 없다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자리를 커뮤니티 카더라가 채운다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257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FF7A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 비대칭이 아니라 ‘해석 비대칭’이다.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024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집을 노리는 2030 무주택자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공고는 본다 — 지원 여부를 못 정할 뿐이다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577840" cy="3474720"/>
          </a:xfrm>
          <a:prstGeom prst="roundRect">
            <a:avLst>
              <a:gd name="adj" fmla="val 3158"/>
            </a:avLst>
          </a:prstGeom>
          <a:solidFill>
            <a:srgbClr val="10243E"/>
          </a:solidFill>
          <a:ln w="9525">
            <a:solidFill>
              <a:srgbClr val="D4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99A8BC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51560" y="2331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A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페르소나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78892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28세 · 수도권 거주</a:t>
            </a:r>
            <a:endParaRPr lang="en-US" sz="2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청약통장 7년차 · 가점 60점 초반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41605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E8EE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"공고는 매번 본다. 그런데 넣어야 할지를 모르겠다."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92240" y="2011680"/>
            <a:ext cx="5029200" cy="1042416"/>
          </a:xfrm>
          <a:prstGeom prst="roundRect">
            <a:avLst>
              <a:gd name="adj" fmla="val 10526"/>
            </a:avLst>
          </a:prstGeom>
          <a:solidFill>
            <a:srgbClr val="E8EEF6"/>
          </a:solidFill>
          <a:ln w="9525">
            <a:solidFill>
              <a:srgbClr val="D4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99A8BC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766560" y="2011680"/>
            <a:ext cx="164592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A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원하는 것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412480" y="2011680"/>
            <a:ext cx="292608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24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매물 리스트가 아니라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24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‘내 위치’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92240" y="3227832"/>
            <a:ext cx="5029200" cy="1042416"/>
          </a:xfrm>
          <a:prstGeom prst="roundRect">
            <a:avLst>
              <a:gd name="adj" fmla="val 10526"/>
            </a:avLst>
          </a:prstGeom>
          <a:solidFill>
            <a:srgbClr val="E8EEF6"/>
          </a:solidFill>
          <a:ln w="9525">
            <a:solidFill>
              <a:srgbClr val="D4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99A8BC">
                <a:alpha val="2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766560" y="3227832"/>
            <a:ext cx="164592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A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 기준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412480" y="3227832"/>
            <a:ext cx="292608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24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커트라인 대비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24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가점의 여유 점수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92240" y="4443984"/>
            <a:ext cx="5029200" cy="1042416"/>
          </a:xfrm>
          <a:prstGeom prst="roundRect">
            <a:avLst>
              <a:gd name="adj" fmla="val 10526"/>
            </a:avLst>
          </a:prstGeom>
          <a:solidFill>
            <a:srgbClr val="E8EEF6"/>
          </a:solidFill>
          <a:ln w="9525">
            <a:solidFill>
              <a:srgbClr val="D4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99A8BC">
                <a:alpha val="2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766560" y="4443984"/>
            <a:ext cx="164592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A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행동 전환점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0" y="4443984"/>
            <a:ext cx="292608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24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마감 임박 D-5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24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알림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1024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리스트를 더 주는 서비스는 많다. 집캐치는 ‘좌표’를 준다.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024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5개 질문, 한 화면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탭 5개는 기능 5개가 아니라 의사결정 5단계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713232"/>
          </a:xfrm>
          <a:prstGeom prst="roundRect">
            <a:avLst>
              <a:gd name="adj" fmla="val 15385"/>
            </a:avLst>
          </a:prstGeom>
          <a:solidFill>
            <a:srgbClr val="E8EEF6"/>
          </a:solidFill>
          <a:ln w="9525">
            <a:solidFill>
              <a:srgbClr val="D4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99A8BC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929384"/>
            <a:ext cx="420624" cy="420624"/>
          </a:xfrm>
          <a:prstGeom prst="ellipse">
            <a:avLst/>
          </a:prstGeom>
          <a:solidFill>
            <a:srgbClr val="10243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1929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78308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4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분양정보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023360" y="1783080"/>
            <a:ext cx="7223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넣을 수 있는 게 뭐지?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624328"/>
            <a:ext cx="10881360" cy="713232"/>
          </a:xfrm>
          <a:prstGeom prst="roundRect">
            <a:avLst>
              <a:gd name="adj" fmla="val 15385"/>
            </a:avLst>
          </a:prstGeom>
          <a:solidFill>
            <a:srgbClr val="E8EEF6"/>
          </a:solidFill>
          <a:ln w="9525">
            <a:solidFill>
              <a:srgbClr val="D4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99A8BC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96112" y="2770632"/>
            <a:ext cx="420624" cy="420624"/>
          </a:xfrm>
          <a:prstGeom prst="ellipse">
            <a:avLst/>
          </a:prstGeom>
          <a:solidFill>
            <a:srgbClr val="10243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96112" y="2770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2624328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4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경쟁률 현황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023360" y="2624328"/>
            <a:ext cx="7223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단지, 얼마나 몰리지?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3465576"/>
            <a:ext cx="10881360" cy="713232"/>
          </a:xfrm>
          <a:prstGeom prst="roundRect">
            <a:avLst>
              <a:gd name="adj" fmla="val 15385"/>
            </a:avLst>
          </a:prstGeom>
          <a:solidFill>
            <a:srgbClr val="E8EEF6"/>
          </a:solidFill>
          <a:ln w="9525">
            <a:solidFill>
              <a:srgbClr val="D4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99A8BC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96112" y="3611880"/>
            <a:ext cx="420624" cy="420624"/>
          </a:xfrm>
          <a:prstGeom prst="ellipse">
            <a:avLst/>
          </a:prstGeom>
          <a:solidFill>
            <a:srgbClr val="10243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96112" y="3611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3465576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4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핫플레이스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4023360" y="3465576"/>
            <a:ext cx="7223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지역이 과열됐지?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0080" y="4306824"/>
            <a:ext cx="10881360" cy="713232"/>
          </a:xfrm>
          <a:prstGeom prst="roundRect">
            <a:avLst>
              <a:gd name="adj" fmla="val 15385"/>
            </a:avLst>
          </a:prstGeom>
          <a:solidFill>
            <a:srgbClr val="E8EEF6"/>
          </a:solidFill>
          <a:ln w="9525">
            <a:solidFill>
              <a:srgbClr val="D4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99A8BC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96112" y="4453128"/>
            <a:ext cx="420624" cy="420624"/>
          </a:xfrm>
          <a:prstGeom prst="ellipse">
            <a:avLst/>
          </a:prstGeom>
          <a:solidFill>
            <a:srgbClr val="10243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96112" y="4453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4306824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4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당첨자 통계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4023360" y="4306824"/>
            <a:ext cx="7223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실제로 누가 됐지?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0080" y="5148072"/>
            <a:ext cx="10881360" cy="713232"/>
          </a:xfrm>
          <a:prstGeom prst="roundRect">
            <a:avLst>
              <a:gd name="adj" fmla="val 15385"/>
            </a:avLst>
          </a:prstGeom>
          <a:solidFill>
            <a:srgbClr val="10243E"/>
          </a:solidFill>
          <a:ln w="9525">
            <a:solidFill>
              <a:srgbClr val="D4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99A8BC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96112" y="5294376"/>
            <a:ext cx="420624" cy="420624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96112" y="5294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508760" y="5148072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당첨 예측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4023360" y="5148072"/>
            <a:ext cx="7223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7A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될까?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마지막 한 줄이 이 서비스의 존재 이유다.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024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분양정보 — 놓치지 않게 만드는 D-day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KPI 4종 · 마감임박 클릭 시 해당 목록 즉시 전개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931920" cy="3383280"/>
          </a:xfrm>
          <a:prstGeom prst="roundRect">
            <a:avLst>
              <a:gd name="adj" fmla="val 3243"/>
            </a:avLst>
          </a:prstGeom>
          <a:solidFill>
            <a:srgbClr val="10243E"/>
          </a:solidFill>
          <a:ln w="9525">
            <a:solidFill>
              <a:srgbClr val="D4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99A8BC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251460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7A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D-5</a:t>
            </a:r>
            <a:endParaRPr lang="en-US" sz="9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11480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E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 종료 5일 이내를</a:t>
            </a:r>
            <a:endParaRPr lang="en-US" sz="15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E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‘마감 임박’으로 정의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937760" y="2011680"/>
            <a:ext cx="6583680" cy="749808"/>
          </a:xfrm>
          <a:prstGeom prst="roundRect">
            <a:avLst>
              <a:gd name="adj" fmla="val 14634"/>
            </a:avLst>
          </a:prstGeom>
          <a:solidFill>
            <a:srgbClr val="E8EEF6"/>
          </a:solidFill>
          <a:ln w="9525">
            <a:solidFill>
              <a:srgbClr val="D4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99A8BC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5212080" y="2011680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4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접수중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040880" y="201168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신청 가능한 공고 수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937760" y="2889504"/>
            <a:ext cx="6583680" cy="749808"/>
          </a:xfrm>
          <a:prstGeom prst="roundRect">
            <a:avLst>
              <a:gd name="adj" fmla="val 14634"/>
            </a:avLst>
          </a:prstGeom>
          <a:solidFill>
            <a:srgbClr val="E8EEF6"/>
          </a:solidFill>
          <a:ln w="9525">
            <a:solidFill>
              <a:srgbClr val="D4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99A8BC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212080" y="2889504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4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마감임박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2889504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D-5 이내 — 클릭 시 목록 전개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937760" y="3767328"/>
            <a:ext cx="6583680" cy="749808"/>
          </a:xfrm>
          <a:prstGeom prst="roundRect">
            <a:avLst>
              <a:gd name="adj" fmla="val 14634"/>
            </a:avLst>
          </a:prstGeom>
          <a:solidFill>
            <a:srgbClr val="E8EEF6"/>
          </a:solidFill>
          <a:ln w="9525">
            <a:solidFill>
              <a:srgbClr val="D4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99A8BC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212080" y="3767328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4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공급세대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040880" y="3767328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 기간 내 공급 물량 합계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937760" y="4645152"/>
            <a:ext cx="6583680" cy="749808"/>
          </a:xfrm>
          <a:prstGeom prst="roundRect">
            <a:avLst>
              <a:gd name="adj" fmla="val 14634"/>
            </a:avLst>
          </a:prstGeom>
          <a:solidFill>
            <a:srgbClr val="E8EEF6"/>
          </a:solidFill>
          <a:ln w="9525">
            <a:solidFill>
              <a:srgbClr val="D4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99A8BC">
                <a:alpha val="2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5212080" y="4645152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4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갱신시각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040880" y="4645152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신선도를 화면에 노출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1024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청약에서 가장 비싼 실수는 떨어지는 게 아니라 모르고 지나치는 것이다.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024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경쟁률 — 평균이 아니라 분포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특별공급과 일반공급은 모수도 자격도 다르다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212080" cy="2377440"/>
          </a:xfrm>
          <a:prstGeom prst="roundRect">
            <a:avLst>
              <a:gd name="adj" fmla="val 4615"/>
            </a:avLst>
          </a:prstGeom>
          <a:solidFill>
            <a:srgbClr val="E8EEF6"/>
          </a:solidFill>
          <a:ln w="9525">
            <a:solidFill>
              <a:srgbClr val="D4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99A8BC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2286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4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특별공급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83464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A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신혼부부 · 생애최초 · 다자녀 · 노부모부양 등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A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자격 요건이 좁고 모수가 작다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A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배정 물량이 작아 경쟁률 변동성이 크다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A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자격 판정이 지원 여부를 먼저 결정한다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2011680"/>
            <a:ext cx="5212080" cy="2377440"/>
          </a:xfrm>
          <a:prstGeom prst="roundRect">
            <a:avLst>
              <a:gd name="adj" fmla="val 4615"/>
            </a:avLst>
          </a:prstGeom>
          <a:solidFill>
            <a:srgbClr val="E8EEF6"/>
          </a:solidFill>
          <a:ln w="9525">
            <a:solidFill>
              <a:srgbClr val="D4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99A8BC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629400" y="2286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4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일반공급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283464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A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가점제와 추첨제가 혼재한다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A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모수가 크고 변동 폭이 넓다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A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가점제 비율은 주택형 · 지역별로 다르다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A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추첨제는 가점과 무관한 별도 전략이 필요하다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470916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FDEDE6"/>
          </a:solidFill>
          <a:ln w="12700">
            <a:solidFill>
              <a:srgbClr val="FF7A4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05840" y="4709160"/>
            <a:ext cx="1014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E3A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합산 평균 경쟁률은 실수요자를 오도한다 — 집캐치는 두 값을 분리해 저장·표시한다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024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제공 단위:  지역별 평균 경쟁률  ·  공고번호 기준 단지 상세  ·  주택형별 경쟁률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024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핫플레이스 — 전국 과열 지도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시·도 SVG 경계 히트맵 + 단지 마커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486400" cy="3657600"/>
          </a:xfrm>
          <a:prstGeom prst="roundRect">
            <a:avLst>
              <a:gd name="adj" fmla="val 3000"/>
            </a:avLst>
          </a:prstGeom>
          <a:solidFill>
            <a:srgbClr val="10243E"/>
          </a:solidFill>
          <a:ln w="9525">
            <a:solidFill>
              <a:srgbClr val="D4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99A8BC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51560" y="233172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좌표 없는 데이터를</a:t>
            </a:r>
            <a:endParaRPr lang="en-US" sz="2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지도로 만드는 법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3520440"/>
            <a:ext cx="4663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8EE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청약홈 API에는 위경도가 없다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8EE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지역코드 → 시·도 bbox 매핑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8EE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자체 레이아웃 알고리즘으로 마커 배치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8EE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경쟁률 → 색 강도(heat level) 환산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0" y="2011680"/>
            <a:ext cx="5120640" cy="1097280"/>
          </a:xfrm>
          <a:prstGeom prst="roundRect">
            <a:avLst>
              <a:gd name="adj" fmla="val 10000"/>
            </a:avLst>
          </a:prstGeom>
          <a:solidFill>
            <a:srgbClr val="E8EEF6"/>
          </a:solidFill>
          <a:ln w="9525">
            <a:solidFill>
              <a:srgbClr val="D4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99A8BC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720840" y="215798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4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줌 · 팬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720840" y="257860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수도권까지 확대해 단지 단위로 탐색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0" y="3291840"/>
            <a:ext cx="5120640" cy="1097280"/>
          </a:xfrm>
          <a:prstGeom prst="roundRect">
            <a:avLst>
              <a:gd name="adj" fmla="val 10000"/>
            </a:avLst>
          </a:prstGeom>
          <a:solidFill>
            <a:srgbClr val="E8EEF6"/>
          </a:solidFill>
          <a:ln w="9525">
            <a:solidFill>
              <a:srgbClr val="D4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99A8BC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720840" y="343814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4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호버 툴팁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720840" y="385876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지역 · 단지 경쟁률 즉시 확인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4572000"/>
            <a:ext cx="5120640" cy="1097280"/>
          </a:xfrm>
          <a:prstGeom prst="roundRect">
            <a:avLst>
              <a:gd name="adj" fmla="val 10000"/>
            </a:avLst>
          </a:prstGeom>
          <a:solidFill>
            <a:srgbClr val="E8EEF6"/>
          </a:solidFill>
          <a:ln w="9525">
            <a:solidFill>
              <a:srgbClr val="D4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99A8BC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720840" y="471830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4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Bottom Sheet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513892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모바일에서 목록을 끌어올려 조회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035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"어디가 과열됐는지 3초에 안다" — 기능이 아니라 소요 시간으로 말한다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024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당첨자 통계 — 소문을 숫자로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연령별 · 지역별 신청자 대비 당첨자, 가점 분포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514600" cy="1828800"/>
          </a:xfrm>
          <a:prstGeom prst="roundRect">
            <a:avLst>
              <a:gd name="adj" fmla="val 6000"/>
            </a:avLst>
          </a:prstGeom>
          <a:solidFill>
            <a:srgbClr val="10243E"/>
          </a:solidFill>
          <a:ln w="9525">
            <a:solidFill>
              <a:srgbClr val="D4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99A8BC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228600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9260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7A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당첨 가점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2918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4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AVRG_SCORE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29000" y="2011680"/>
            <a:ext cx="2514600" cy="1828800"/>
          </a:xfrm>
          <a:prstGeom prst="roundRect">
            <a:avLst>
              <a:gd name="adj" fmla="val 6000"/>
            </a:avLst>
          </a:prstGeom>
          <a:solidFill>
            <a:srgbClr val="10243E"/>
          </a:solidFill>
          <a:ln w="9525">
            <a:solidFill>
              <a:srgbClr val="D4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99A8BC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429000" y="228600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최저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9260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7A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당첨 가점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32918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4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LWET_SCORE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2011680"/>
            <a:ext cx="2514600" cy="1828800"/>
          </a:xfrm>
          <a:prstGeom prst="roundRect">
            <a:avLst>
              <a:gd name="adj" fmla="val 6000"/>
            </a:avLst>
          </a:prstGeom>
          <a:solidFill>
            <a:srgbClr val="10243E"/>
          </a:solidFill>
          <a:ln w="9525">
            <a:solidFill>
              <a:srgbClr val="D4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99A8BC">
                <a:alpha val="2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217920" y="228600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최고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9260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7A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당첨 가점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32918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4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TOP_SCORE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06840" y="2011680"/>
            <a:ext cx="2514600" cy="1828800"/>
          </a:xfrm>
          <a:prstGeom prst="roundRect">
            <a:avLst>
              <a:gd name="adj" fmla="val 6000"/>
            </a:avLst>
          </a:prstGeom>
          <a:solidFill>
            <a:srgbClr val="10243E"/>
          </a:solidFill>
          <a:ln w="9525">
            <a:solidFill>
              <a:srgbClr val="D4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99A8BC">
                <a:alpha val="2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006840" y="228600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중위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9006840" y="29260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7A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당첨 가점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006840" y="32918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4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MED_SCORE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343400"/>
            <a:ext cx="10881360" cy="1463040"/>
          </a:xfrm>
          <a:prstGeom prst="roundRect">
            <a:avLst>
              <a:gd name="adj" fmla="val 7500"/>
            </a:avLst>
          </a:prstGeom>
          <a:solidFill>
            <a:srgbClr val="E8EEF6"/>
          </a:solidFill>
          <a:ln w="9525">
            <a:solidFill>
              <a:srgbClr val="D4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99A8BC">
                <a:alpha val="2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1005840" y="4553712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4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"요즘 60점으론 안 된다"는 말 — 여기서 월 단위로 검증된다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005840" y="512064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통계에 기준월(STAT_DE)과 표본 수를 함께 노출 — 인용 가능한 형태로 제공한다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60807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9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공공데이터포털 청약홈 OpenAPI · 한국부동산원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024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AI 당첨 예측 — 이 서비스의 심장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3단계 입력 → 84점 가점 환산 → 지역 당첨 분포와 비교 → 확률 + 근거 문장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828800"/>
          <a:ext cx="53949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309360" y="1874520"/>
            <a:ext cx="5212080" cy="804672"/>
          </a:xfrm>
          <a:prstGeom prst="roundRect">
            <a:avLst>
              <a:gd name="adj" fmla="val 13636"/>
            </a:avLst>
          </a:prstGeom>
          <a:solidFill>
            <a:srgbClr val="E8EEF6"/>
          </a:solidFill>
          <a:ln w="9525">
            <a:solidFill>
              <a:srgbClr val="D4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99A8BC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537960" y="2066544"/>
            <a:ext cx="420624" cy="420624"/>
          </a:xfrm>
          <a:prstGeom prst="ellipse">
            <a:avLst/>
          </a:prstGeom>
          <a:solidFill>
            <a:srgbClr val="10243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537960" y="20665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086600" y="1874520"/>
            <a:ext cx="914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4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1874520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무주택 기간 · 부양가족 · 통장 가입기간 3단계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309360" y="2807208"/>
            <a:ext cx="5212080" cy="804672"/>
          </a:xfrm>
          <a:prstGeom prst="roundRect">
            <a:avLst>
              <a:gd name="adj" fmla="val 13636"/>
            </a:avLst>
          </a:prstGeom>
          <a:solidFill>
            <a:srgbClr val="E8EEF6"/>
          </a:solidFill>
          <a:ln w="9525">
            <a:solidFill>
              <a:srgbClr val="D4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99A8BC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37960" y="2999232"/>
            <a:ext cx="420624" cy="420624"/>
          </a:xfrm>
          <a:prstGeom prst="ellipse">
            <a:avLst/>
          </a:prstGeom>
          <a:solidFill>
            <a:srgbClr val="10243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537960" y="29992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086600" y="2807208"/>
            <a:ext cx="914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4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환산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8001000" y="2807208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「주택공급에 관한 규칙」 별표1 기준 84점 체계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309360" y="3739896"/>
            <a:ext cx="5212080" cy="804672"/>
          </a:xfrm>
          <a:prstGeom prst="roundRect">
            <a:avLst>
              <a:gd name="adj" fmla="val 13636"/>
            </a:avLst>
          </a:prstGeom>
          <a:solidFill>
            <a:srgbClr val="E8EEF6"/>
          </a:solidFill>
          <a:ln w="9525">
            <a:solidFill>
              <a:srgbClr val="D4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99A8BC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537960" y="3931920"/>
            <a:ext cx="420624" cy="420624"/>
          </a:xfrm>
          <a:prstGeom prst="ellipse">
            <a:avLst/>
          </a:prstGeom>
          <a:solidFill>
            <a:srgbClr val="10243E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537960" y="3931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7086600" y="3739896"/>
            <a:ext cx="914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4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8001000" y="3739896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지역별 최근 당첨 가점 평균 · 최저 · 최고와 대조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309360" y="4672584"/>
            <a:ext cx="5212080" cy="804672"/>
          </a:xfrm>
          <a:prstGeom prst="roundRect">
            <a:avLst>
              <a:gd name="adj" fmla="val 13636"/>
            </a:avLst>
          </a:prstGeom>
          <a:solidFill>
            <a:srgbClr val="E8EEF6"/>
          </a:solidFill>
          <a:ln w="9525">
            <a:solidFill>
              <a:srgbClr val="D4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99A8BC">
                <a:alpha val="2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537960" y="4864608"/>
            <a:ext cx="420624" cy="420624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537960" y="48646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7086600" y="4672584"/>
            <a:ext cx="914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4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해석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8001000" y="4672584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확률 5~94% + 커트라인 대비 여유 점수 문장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6309360" y="566928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i="1" dirty="0">
                <a:solidFill>
                  <a:srgbClr val="FF7A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블랙박스가 아니다 — 왜 그 숫자인지 설명할 수 있는 규칙 기반 모델이다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024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아키텍처 — 키는 서버에, 캐시는 엣지에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Next.js 16 App Router · React 19 · TypeScript · Tailwind v4 · Recharts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383280" cy="2011680"/>
          </a:xfrm>
          <a:prstGeom prst="roundRect">
            <a:avLst>
              <a:gd name="adj" fmla="val 5455"/>
            </a:avLst>
          </a:prstGeom>
          <a:solidFill>
            <a:srgbClr val="E8EEF6"/>
          </a:solidFill>
          <a:ln w="9525">
            <a:solidFill>
              <a:srgbClr val="D4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99A8BC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96112" y="2286000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4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청약홈 OpenAPI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834640"/>
            <a:ext cx="28712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공공데이터포털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한국부동산원 통계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133088" y="2834640"/>
            <a:ext cx="365760" cy="365760"/>
          </a:xfrm>
          <a:prstGeom prst="rightArrow">
            <a:avLst/>
          </a:prstGeom>
          <a:solidFill>
            <a:srgbClr val="FF7A45"/>
          </a:solidFill>
          <a:ln/>
        </p:spPr>
      </p:sp>
      <p:sp>
        <p:nvSpPr>
          <p:cNvPr id="8" name="Shape 6"/>
          <p:cNvSpPr/>
          <p:nvPr/>
        </p:nvSpPr>
        <p:spPr>
          <a:xfrm>
            <a:off x="4617720" y="2011680"/>
            <a:ext cx="3383280" cy="2011680"/>
          </a:xfrm>
          <a:prstGeom prst="roundRect">
            <a:avLst>
              <a:gd name="adj" fmla="val 5455"/>
            </a:avLst>
          </a:prstGeom>
          <a:solidFill>
            <a:srgbClr val="10243E"/>
          </a:solidFill>
          <a:ln w="9525">
            <a:solidFill>
              <a:srgbClr val="D4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99A8BC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873752" y="2286000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Next.js Route Handler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873752" y="2834640"/>
            <a:ext cx="28712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7D6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app/api/* — API 키 서버 보관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7D6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revalidate 300~600초 캐싱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10728" y="2834640"/>
            <a:ext cx="365760" cy="365760"/>
          </a:xfrm>
          <a:prstGeom prst="rightArrow">
            <a:avLst/>
          </a:prstGeom>
          <a:solidFill>
            <a:srgbClr val="FF7A45"/>
          </a:solidFill>
          <a:ln/>
        </p:spPr>
      </p:sp>
      <p:sp>
        <p:nvSpPr>
          <p:cNvPr id="12" name="Shape 10"/>
          <p:cNvSpPr/>
          <p:nvPr/>
        </p:nvSpPr>
        <p:spPr>
          <a:xfrm>
            <a:off x="8595360" y="2011680"/>
            <a:ext cx="3383280" cy="2011680"/>
          </a:xfrm>
          <a:prstGeom prst="roundRect">
            <a:avLst>
              <a:gd name="adj" fmla="val 5455"/>
            </a:avLst>
          </a:prstGeom>
          <a:solidFill>
            <a:srgbClr val="E8EEF6"/>
          </a:solidFill>
          <a:ln w="9525">
            <a:solidFill>
              <a:srgbClr val="D4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99A8BC">
                <a:alpha val="2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851392" y="2286000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4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클라이언트 대시보드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851392" y="2834640"/>
            <a:ext cx="28712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탭 단위 dynamic import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ssr:false — 초기 번들 최소화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672584"/>
            <a:ext cx="182880" cy="18288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60120" y="45720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키 노출 0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291840" y="45720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외부 호출은 서버 라우트에서만 수행 — 클라이언트 번들에 키가 들어가지 않는다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5367528"/>
            <a:ext cx="182880" cy="18288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60120" y="526694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호출량 제어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291840" y="526694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revalidate 기반 캐시(경쟁률 600초 / 분양정보 300초)로 공공 API 쿼터와 응답 지연을 동시에 억제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6062472"/>
            <a:ext cx="182880" cy="18288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60120" y="596188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타입 안전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291840" y="596188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공공 API 원본 필드를 lib/types.ts 에 명시적으로 선언해 코드값 해석을 한 곳에 모았다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024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라이브 데모 — 3분, 클릭 7번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순서가 아니라 사용자의 판단 순서로 보여준다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12080" cy="786384"/>
          </a:xfrm>
          <a:prstGeom prst="roundRect">
            <a:avLst>
              <a:gd name="adj" fmla="val 13953"/>
            </a:avLst>
          </a:prstGeom>
          <a:solidFill>
            <a:srgbClr val="E8EEF6"/>
          </a:solidFill>
          <a:ln w="9525">
            <a:solidFill>
              <a:srgbClr val="D4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99A8BC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57400"/>
            <a:ext cx="420624" cy="420624"/>
          </a:xfrm>
          <a:prstGeom prst="ellipse">
            <a:avLst/>
          </a:prstGeom>
          <a:solidFill>
            <a:srgbClr val="10243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9385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4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메인 진입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30428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이 숫자는 실시간 공공데이터다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743200"/>
            <a:ext cx="5212080" cy="786384"/>
          </a:xfrm>
          <a:prstGeom prst="roundRect">
            <a:avLst>
              <a:gd name="adj" fmla="val 13953"/>
            </a:avLst>
          </a:prstGeom>
          <a:solidFill>
            <a:srgbClr val="E8EEF6"/>
          </a:solidFill>
          <a:ln w="9525">
            <a:solidFill>
              <a:srgbClr val="D4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99A8BC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971800"/>
            <a:ext cx="420624" cy="420624"/>
          </a:xfrm>
          <a:prstGeom prst="ellipse">
            <a:avLst/>
          </a:prstGeom>
          <a:solidFill>
            <a:srgbClr val="10243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2971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28529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4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마감임박 KPI 클릭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321868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D-5 이내만 걸러진다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657600"/>
            <a:ext cx="5212080" cy="786384"/>
          </a:xfrm>
          <a:prstGeom prst="roundRect">
            <a:avLst>
              <a:gd name="adj" fmla="val 13953"/>
            </a:avLst>
          </a:prstGeom>
          <a:solidFill>
            <a:srgbClr val="E8EEF6"/>
          </a:solidFill>
          <a:ln w="9525">
            <a:solidFill>
              <a:srgbClr val="D4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99A8BC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3886200"/>
            <a:ext cx="420624" cy="420624"/>
          </a:xfrm>
          <a:prstGeom prst="ellipse">
            <a:avLst/>
          </a:prstGeom>
          <a:solidFill>
            <a:srgbClr val="10243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3886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37673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4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단지 상세 진입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413308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공고 원문 대신 필요한 것만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572000"/>
            <a:ext cx="5212080" cy="786384"/>
          </a:xfrm>
          <a:prstGeom prst="roundRect">
            <a:avLst>
              <a:gd name="adj" fmla="val 13953"/>
            </a:avLst>
          </a:prstGeom>
          <a:solidFill>
            <a:srgbClr val="E8EEF6"/>
          </a:solidFill>
          <a:ln w="9525">
            <a:solidFill>
              <a:srgbClr val="D4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99A8BC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4800600"/>
            <a:ext cx="420624" cy="420624"/>
          </a:xfrm>
          <a:prstGeom prst="ellipse">
            <a:avLst/>
          </a:prstGeom>
          <a:solidFill>
            <a:srgbClr val="10243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4800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46817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4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경쟁률 탭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1417320" y="504748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특공과 일반을 분리해서 본다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09360" y="1828800"/>
            <a:ext cx="5212080" cy="786384"/>
          </a:xfrm>
          <a:prstGeom prst="roundRect">
            <a:avLst>
              <a:gd name="adj" fmla="val 13953"/>
            </a:avLst>
          </a:prstGeom>
          <a:solidFill>
            <a:srgbClr val="E8EEF6"/>
          </a:solidFill>
          <a:ln w="9525">
            <a:solidFill>
              <a:srgbClr val="D4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99A8BC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37960" y="2057400"/>
            <a:ext cx="420624" cy="420624"/>
          </a:xfrm>
          <a:prstGeom prst="ellipse">
            <a:avLst/>
          </a:prstGeom>
          <a:solidFill>
            <a:srgbClr val="10243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537960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086600" y="19385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4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핫플레이스 → 수도권 줌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7086600" y="230428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과열이 어디로 이동하는지 보인다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309360" y="2743200"/>
            <a:ext cx="5212080" cy="786384"/>
          </a:xfrm>
          <a:prstGeom prst="roundRect">
            <a:avLst>
              <a:gd name="adj" fmla="val 13953"/>
            </a:avLst>
          </a:prstGeom>
          <a:solidFill>
            <a:srgbClr val="E8EEF6"/>
          </a:solidFill>
          <a:ln w="9525">
            <a:solidFill>
              <a:srgbClr val="D4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99A8BC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537960" y="2971800"/>
            <a:ext cx="420624" cy="420624"/>
          </a:xfrm>
          <a:prstGeom prst="ellipse">
            <a:avLst/>
          </a:prstGeom>
          <a:solidFill>
            <a:srgbClr val="10243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537960" y="2971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7086600" y="28529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4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예측 · 7년 / 2명 / 9년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7086600" y="321868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이게 제 조건이다 — 64점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309360" y="3657600"/>
            <a:ext cx="5212080" cy="786384"/>
          </a:xfrm>
          <a:prstGeom prst="roundRect">
            <a:avLst>
              <a:gd name="adj" fmla="val 13953"/>
            </a:avLst>
          </a:prstGeom>
          <a:solidFill>
            <a:srgbClr val="10243E"/>
          </a:solidFill>
          <a:ln w="9525">
            <a:solidFill>
              <a:srgbClr val="D4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99A8BC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537960" y="3886200"/>
            <a:ext cx="420624" cy="420624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537960" y="3886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7086600" y="37673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게이지</a:t>
            </a:r>
            <a:endParaRPr lang="en-US" sz="1450" dirty="0"/>
          </a:p>
        </p:txBody>
      </p:sp>
      <p:sp>
        <p:nvSpPr>
          <p:cNvPr id="38" name="Text 36"/>
          <p:cNvSpPr txBox="1"/>
          <p:nvPr/>
        </p:nvSpPr>
        <p:spPr>
          <a:xfrm>
            <a:off x="7086600" y="413308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7A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확률보다 커트라인 대비 여유 점수를 보라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309360" y="5806440"/>
            <a:ext cx="5212080" cy="658368"/>
          </a:xfrm>
          <a:prstGeom prst="roundRect">
            <a:avLst>
              <a:gd name="adj" fmla="val 13889"/>
            </a:avLst>
          </a:prstGeom>
          <a:solidFill>
            <a:srgbClr val="FDEDE6"/>
          </a:solidFill>
          <a:ln w="12700">
            <a:solidFill>
              <a:srgbClr val="FF7A45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309360" y="5806440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E3A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안전장치: 로딩 3초 초과 시 즉시 녹화본 전환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024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우리는 청약홈을 대체하지 않는다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청약홈을 ‘읽어주는 레이어’다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11680"/>
          <a:ext cx="108813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828800"/>
                <a:gridCol w="2103120"/>
                <a:gridCol w="2286000"/>
                <a:gridCol w="2011680"/>
              </a:tblGrid>
              <a:tr h="6949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청약홈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부동산 포털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커뮤니티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집캐치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0243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원천 데이터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0243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◎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0243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△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0243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✕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7A4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◎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0243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해석 · 시각화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0243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✕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0243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△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0243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△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7A4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◎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0243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개인화 판단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0243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✕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0243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✕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0243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△ (비검증)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7A4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◎ (근거 제시)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0243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갱신 주기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0243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실시간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0243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수동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0243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비정형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7A4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실시간 + 캐시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1024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진입장벽은 기능이 아니라 ‘누적 사용자 가점 분포 데이터’에서 생긴다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024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로드맵 — 정확도부터 손익까지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취약점은 지적당하기 전에 먼저 올린다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438144" cy="3383280"/>
          </a:xfrm>
          <a:prstGeom prst="roundRect">
            <a:avLst>
              <a:gd name="adj" fmla="val 3243"/>
            </a:avLst>
          </a:prstGeom>
          <a:solidFill>
            <a:srgbClr val="E8EEF6"/>
          </a:solidFill>
          <a:ln w="9525">
            <a:solidFill>
              <a:srgbClr val="D4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99A8BC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86000"/>
            <a:ext cx="777240" cy="384048"/>
          </a:xfrm>
          <a:prstGeom prst="roundRect">
            <a:avLst>
              <a:gd name="adj" fmla="val 19048"/>
            </a:avLst>
          </a:prstGeom>
          <a:solidFill>
            <a:srgbClr val="FF7A4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28600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34640"/>
            <a:ext cx="28895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1024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가점 로직 완전 정합화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703320"/>
            <a:ext cx="28895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현행 선형 근사를 「주택공급에 관한 규칙」 별표1 구간표로 교체.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0점 · 1년 미만 구간 오차 제거. 정확도는 신뢰의 전부다.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52544" y="2011680"/>
            <a:ext cx="3438144" cy="3383280"/>
          </a:xfrm>
          <a:prstGeom prst="roundRect">
            <a:avLst>
              <a:gd name="adj" fmla="val 3243"/>
            </a:avLst>
          </a:prstGeom>
          <a:solidFill>
            <a:srgbClr val="E8EEF6"/>
          </a:solidFill>
          <a:ln w="9525">
            <a:solidFill>
              <a:srgbClr val="D4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99A8BC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26864" y="2286000"/>
            <a:ext cx="777240" cy="384048"/>
          </a:xfrm>
          <a:prstGeom prst="roundRect">
            <a:avLst>
              <a:gd name="adj" fmla="val 19048"/>
            </a:avLst>
          </a:prstGeom>
          <a:solidFill>
            <a:srgbClr val="10243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26864" y="228600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626864" y="2834640"/>
            <a:ext cx="28895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1024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알림 · 자가진단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626864" y="3703320"/>
            <a:ext cx="28895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관심단지 마감 D-3 푸시 알림,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특별공급 자격 자가진단 플로우 추가.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65008" y="2011680"/>
            <a:ext cx="3438144" cy="3383280"/>
          </a:xfrm>
          <a:prstGeom prst="roundRect">
            <a:avLst>
              <a:gd name="adj" fmla="val 3243"/>
            </a:avLst>
          </a:prstGeom>
          <a:solidFill>
            <a:srgbClr val="E8EEF6"/>
          </a:solidFill>
          <a:ln w="9525">
            <a:solidFill>
              <a:srgbClr val="D4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99A8BC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39328" y="2286000"/>
            <a:ext cx="777240" cy="384048"/>
          </a:xfrm>
          <a:prstGeom prst="roundRect">
            <a:avLst>
              <a:gd name="adj" fmla="val 19048"/>
            </a:avLst>
          </a:prstGeom>
          <a:solidFill>
            <a:srgbClr val="1C3A5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39328" y="228600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339328" y="2834640"/>
            <a:ext cx="28895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1024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당첨 후 손익까지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8339328" y="3703320"/>
            <a:ext cx="28895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실거래가 · 전월세 데이터 결합,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"당첨되면 얼마인가"까지 확장.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4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 모델:  무료 확장 → 알림 · 정밀 리포트 구독 → 시행사 · 분양대행사 대상 수요 분석 B2B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657600"/>
            <a:ext cx="4572000" cy="4572000"/>
          </a:xfrm>
          <a:prstGeom prst="ellipse">
            <a:avLst/>
          </a:prstGeom>
          <a:solidFill>
            <a:srgbClr val="1C3A5E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914400"/>
            <a:ext cx="2926080" cy="292608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280160" y="1920240"/>
            <a:ext cx="9601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집을 잡는 건</a:t>
            </a:r>
            <a:endParaRPr lang="en-US" sz="4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운이 아니라 기준입니다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42976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7A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공개된 데이터를, 읽을 수 있는 판단으로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548640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F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집캐치 · JibCatch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집캐치 발표자료</dc:title>
  <dc:subject>PptxGenJS Presentation</dc:subject>
  <dc:creator>JibCatch</dc:creator>
  <cp:lastModifiedBy>JibCatch</cp:lastModifiedBy>
  <cp:revision>1</cp:revision>
  <dcterms:created xsi:type="dcterms:W3CDTF">2026-09-15T15:06:18Z</dcterms:created>
  <dcterms:modified xsi:type="dcterms:W3CDTF">2026-09-15T15:06:18Z</dcterms:modified>
</cp:coreProperties>
</file>