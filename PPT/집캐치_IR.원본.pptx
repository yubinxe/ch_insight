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077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1761-E4F5-9AB3-758C-E1DA67682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A89D3-7270-9CB6-5477-A052C8A62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C39A8-477C-DFB7-F9E1-B98FB3A30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답을 말할 때는 화면을 보지 않는다. "정답은, 청약입니다."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FA97C-E349-027B-8FF0-858E475CD7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02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아무 설명 없이 사진 한 장만 띄운다. 3초 정지.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사진. 여전히 설명하지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"이 세 가지를 보고 무엇이 떠오르시나요?" 객석 답변을 2~3개 받는다. 틀린 답도 받아준다.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답을 말할 때는 화면을 보지 않는다. "정답은, 청약입니다."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"투기과열지구 분양 물건은 추첨제 할당이 정해져 있습니다. 가점이 낮아도 현금만 있으면 로또 청약에 당첨될 수 있다는 뜻입니다."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"둔촌주공으로 알려진 올파포입니다. 2022년 우크라이나 전쟁과 고금리로 하락장이 시작되자 당첨되고도 포기하는 사례가 속출했고, 결국 줍줍 사태까지 벌어졌습니다."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"마지막은 공공임대 정책입니다. 임대주택도 결국 청약으로 공급됩니다. 그래서 지금 더 많은 사람이 청약에 관심을 갖고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톤을 낮춘다. "그런데 문제가 있습니다." 한 박자 쉬고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개를 손으로 하나씩 짚으며 말한다. "공고를 살피고, 조건을 맞추고, 가점 계산까지." 마지막 검은 띠에서 한 박자 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"그래서 저희는 만들었습니다." 말하고 바로 다음 장으로 넘긴다. 여기서 멈추지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"그 상시 대비를 대신하는 서비스가 집캐치입니다."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문장은 슬라이드를 보지 않고 외워서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F0285-4F2B-1345-3716-ECE804319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68CB02-02D2-79D2-3D08-F60B2B5110E7}"/>
              </a:ext>
            </a:extLst>
          </p:cNvPr>
          <p:cNvSpPr txBox="1"/>
          <p:nvPr/>
        </p:nvSpPr>
        <p:spPr>
          <a:xfrm>
            <a:off x="713232" y="16512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</a:rPr>
              <a:t>ZIPCATCH IR PPT</a:t>
            </a:r>
            <a:endParaRPr lang="en-US" sz="9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F37E15-B513-8E75-058C-BE301F0FE749}"/>
              </a:ext>
            </a:extLst>
          </p:cNvPr>
          <p:cNvSpPr/>
          <p:nvPr/>
        </p:nvSpPr>
        <p:spPr>
          <a:xfrm>
            <a:off x="713232" y="2071916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A781B5-AC99-BAB3-5A01-E7C672BC00D8}"/>
              </a:ext>
            </a:extLst>
          </p:cNvPr>
          <p:cNvSpPr txBox="1"/>
          <p:nvPr/>
        </p:nvSpPr>
        <p:spPr>
          <a:xfrm>
            <a:off x="713232" y="2273084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7200" b="1" kern="0" spc="-300" dirty="0" err="1">
                <a:solidFill>
                  <a:srgbClr val="FFFFFF"/>
                </a:solidFill>
                <a:latin typeface="Pretendard" pitchFamily="34" charset="0"/>
              </a:rPr>
              <a:t>집캐치</a:t>
            </a:r>
            <a:r>
              <a:rPr lang="ko-KR" altLang="en-US" sz="7200" b="1" kern="0" spc="-300" dirty="0">
                <a:solidFill>
                  <a:srgbClr val="FFFFFF"/>
                </a:solidFill>
                <a:latin typeface="Pretendard" pitchFamily="34" charset="0"/>
              </a:rPr>
              <a:t> </a:t>
            </a:r>
            <a:r>
              <a:rPr lang="en-US" altLang="ko-KR" sz="7200" b="1" kern="0" spc="-300" dirty="0">
                <a:solidFill>
                  <a:srgbClr val="FFFFFF"/>
                </a:solidFill>
                <a:latin typeface="Pretendard" pitchFamily="34" charset="0"/>
              </a:rPr>
              <a:t>–</a:t>
            </a:r>
            <a:r>
              <a:rPr lang="ko-KR" altLang="en-US" sz="7200" b="1" kern="0" spc="-300" dirty="0">
                <a:solidFill>
                  <a:srgbClr val="FFFFFF"/>
                </a:solidFill>
                <a:latin typeface="Pretendard" pitchFamily="34" charset="0"/>
              </a:rPr>
              <a:t> </a:t>
            </a:r>
            <a:r>
              <a:rPr lang="en-US" altLang="ko-KR" sz="7200" b="1" kern="0" spc="-300" dirty="0" err="1">
                <a:solidFill>
                  <a:srgbClr val="FFFFFF"/>
                </a:solidFill>
                <a:latin typeface="Pretendard" pitchFamily="34" charset="0"/>
              </a:rPr>
              <a:t>ZipCatch</a:t>
            </a:r>
            <a:endParaRPr lang="en-US" sz="7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625F3D-56A9-1C94-F38A-7BA8CE321D4B}"/>
              </a:ext>
            </a:extLst>
          </p:cNvPr>
          <p:cNvSpPr txBox="1"/>
          <p:nvPr/>
        </p:nvSpPr>
        <p:spPr>
          <a:xfrm>
            <a:off x="713232" y="38092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100" dirty="0">
                <a:solidFill>
                  <a:schemeClr val="bg1"/>
                </a:solidFill>
                <a:latin typeface="Pretendard" pitchFamily="34" charset="0"/>
              </a:rPr>
              <a:t>명지대 </a:t>
            </a:r>
            <a:r>
              <a:rPr lang="en-US" altLang="ko-KR" sz="2100" dirty="0">
                <a:solidFill>
                  <a:schemeClr val="bg1"/>
                </a:solidFill>
                <a:latin typeface="Pretendard" pitchFamily="34" charset="0"/>
              </a:rPr>
              <a:t>AID </a:t>
            </a:r>
            <a:r>
              <a:rPr lang="ko-KR" altLang="en-US" sz="2100" dirty="0">
                <a:solidFill>
                  <a:schemeClr val="bg1"/>
                </a:solidFill>
                <a:latin typeface="Pretendard" pitchFamily="34" charset="0"/>
              </a:rPr>
              <a:t>사업단 주관 재직자 </a:t>
            </a:r>
            <a:r>
              <a:rPr lang="ko-KR" altLang="ko-KR" dirty="0">
                <a:solidFill>
                  <a:schemeClr val="bg1"/>
                </a:solidFill>
              </a:rPr>
              <a:t>집중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ko-KR" dirty="0" err="1">
                <a:solidFill>
                  <a:schemeClr val="bg1"/>
                </a:solidFill>
              </a:rPr>
              <a:t>과정</a:t>
            </a:r>
            <a:r>
              <a:rPr lang="ko-KR" altLang="en-US" dirty="0" err="1">
                <a:solidFill>
                  <a:schemeClr val="bg1"/>
                </a:solidFill>
              </a:rPr>
              <a:t>ㅣ트랙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r>
              <a:rPr lang="ko-KR" altLang="en-US" dirty="0">
                <a:solidFill>
                  <a:schemeClr val="bg1"/>
                </a:solidFill>
              </a:rPr>
              <a:t>  </a:t>
            </a:r>
            <a:r>
              <a:rPr lang="en-US" altLang="ko-KR" dirty="0">
                <a:solidFill>
                  <a:schemeClr val="bg1"/>
                </a:solidFill>
              </a:rPr>
              <a:t>-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Team D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4DBED1-0CE7-F96E-31AF-A11B7A6C2DAB}"/>
              </a:ext>
            </a:extLst>
          </p:cNvPr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95C8BE-6BA1-2EDB-E17D-7697484EEADA}"/>
              </a:ext>
            </a:extLst>
          </p:cNvPr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50" dirty="0"/>
          </a:p>
        </p:txBody>
      </p:sp>
      <p:pic>
        <p:nvPicPr>
          <p:cNvPr id="8" name="그림 7" descr="Emblem">
            <a:extLst>
              <a:ext uri="{FF2B5EF4-FFF2-40B4-BE49-F238E27FC236}">
                <a16:creationId xmlns:a16="http://schemas.microsoft.com/office/drawing/2014/main" id="{987BB32F-415C-E870-DF9E-4AEB306BA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772" y="5215126"/>
            <a:ext cx="1162545" cy="1162545"/>
          </a:xfrm>
          <a:prstGeom prst="rect">
            <a:avLst/>
          </a:prstGeom>
        </p:spPr>
      </p:pic>
      <p:pic>
        <p:nvPicPr>
          <p:cNvPr id="9" name="그림 8" descr="한국부동산분양서비스협회, '한국부동산마케팅협회'로 새 출발">
            <a:extLst>
              <a:ext uri="{FF2B5EF4-FFF2-40B4-BE49-F238E27FC236}">
                <a16:creationId xmlns:a16="http://schemas.microsoft.com/office/drawing/2014/main" id="{43FB3490-4FC3-0E0E-94E6-0598B12C38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702936" y="5173709"/>
            <a:ext cx="2745352" cy="12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1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ko-KR" alt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</a:t>
            </a:r>
            <a:r>
              <a:rPr lang="en-US" sz="2700" b="1" kern="0" spc="-40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</a:t>
            </a: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가지의 </a:t>
            </a:r>
            <a:r>
              <a:rPr lang="en-US" sz="2700" b="1" kern="0" spc="-40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공통점은</a:t>
            </a: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700" b="1" kern="0" spc="-40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</a:t>
            </a:r>
            <a:r>
              <a:rPr lang="ko-KR" alt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일까요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assets/hook-01*.jpg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안유진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가수</a:t>
            </a: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연예인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</a:t>
            </a:r>
            <a:r>
              <a:rPr lang="ko-KR" altLang="en-US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년생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77200" y="2212848"/>
            <a:ext cx="3371088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출처 : 각 사 공개 자료 및 언론 보도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C5E33F7-E363-B90A-5D3E-F8435C6A1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12848"/>
            <a:ext cx="3371088" cy="25143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6000"/>
              </a:lnSpc>
            </a:pPr>
            <a:r>
              <a:rPr lang="ko-KR" alt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가지의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공통점은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</a:t>
            </a:r>
            <a:r>
              <a:rPr lang="ko-KR" alt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일까요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altLang="ko-KR" sz="2700" dirty="0"/>
          </a:p>
        </p:txBody>
      </p:sp>
      <p:sp>
        <p:nvSpPr>
          <p:cNvPr id="4" name="Shape 2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assets/hook-01*.jpg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안유진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가수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연예인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</a:t>
            </a:r>
            <a:r>
              <a:rPr lang="ko-KR" altLang="en-US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년생</a:t>
            </a:r>
            <a:endParaRPr lang="en-US" altLang="ko-KR" sz="1150" dirty="0"/>
          </a:p>
        </p:txBody>
      </p:sp>
      <p:sp>
        <p:nvSpPr>
          <p:cNvPr id="9" name="Shape 7"/>
          <p:cNvSpPr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assets/hook-02*.jpg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395216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</a:t>
            </a:r>
            <a:r>
              <a:rPr lang="ko-KR" alt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</a:t>
            </a: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포레온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95216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</a:t>
            </a: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강동</a:t>
            </a: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</a:t>
            </a: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12,032세대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ko-KR" sz="1400" dirty="0" err="1"/>
              <a:t>舊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둔촌주공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77200" y="2212848"/>
            <a:ext cx="3371088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출처 : 각 사 공개 자료 및 언론 보도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5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93FBB7B-4C62-06AC-4927-1C8D5D10C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12848"/>
            <a:ext cx="3371088" cy="251439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42A8FD1-6A8C-C522-4271-09525CDEE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216" y="2241766"/>
            <a:ext cx="3371088" cy="24598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6000"/>
              </a:lnSpc>
            </a:pPr>
            <a:r>
              <a:rPr lang="ko-KR" alt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가지의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공통점은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</a:t>
            </a:r>
            <a:r>
              <a:rPr lang="ko-KR" alt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일까요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altLang="ko-KR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영역의 세 장면이 하나의 제도로 연결됩니다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assets/hook-01*.jpg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아이브 안유진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가수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연예인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</a:t>
            </a:r>
            <a:r>
              <a:rPr lang="ko-KR" altLang="en-US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년생</a:t>
            </a:r>
            <a:endParaRPr lang="en-US" altLang="ko-KR" sz="1150" dirty="0"/>
          </a:p>
        </p:txBody>
      </p:sp>
      <p:sp>
        <p:nvSpPr>
          <p:cNvPr id="10" name="Shape 8"/>
          <p:cNvSpPr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assets/hook-02*.jpg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395216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</a:t>
            </a:r>
            <a:r>
              <a:rPr lang="ko-KR" alt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</a:t>
            </a: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포레온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95216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강동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12,032세대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ko-KR" sz="1400" dirty="0" err="1"/>
              <a:t>舊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둔촌주공</a:t>
            </a:r>
            <a:endParaRPr lang="en-US" altLang="ko-KR" sz="1150" dirty="0"/>
          </a:p>
        </p:txBody>
      </p:sp>
      <p:sp>
        <p:nvSpPr>
          <p:cNvPr id="14" name="Shape 12"/>
          <p:cNvSpPr/>
          <p:nvPr/>
        </p:nvSpPr>
        <p:spPr>
          <a:xfrm>
            <a:off x="8077200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077200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assets/hook-03*.jpg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77200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이재명 정부 주택정책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077200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공공임대 중심 공급 기조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잠시 생각해 보시기 바랍니다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출처 : 각 사 공개 자료 및 언론 보도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5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ACD02FF-FC0A-2DDD-4E41-33401F989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12848"/>
            <a:ext cx="3371088" cy="251439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C401B38-557C-02DE-1666-2A09A4529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216" y="2241766"/>
            <a:ext cx="3371088" cy="245983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B859A03-E1A9-BB3F-4C39-CCF5A24CD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237094"/>
            <a:ext cx="3371088" cy="24598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13232" y="2706624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13232" y="2907792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kern="0" spc="-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44439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장면 모두 청약 제도가 만들어낸 결과입니다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50" dirty="0"/>
          </a:p>
        </p:txBody>
      </p:sp>
      <p:pic>
        <p:nvPicPr>
          <p:cNvPr id="10" name="그림 9" descr="치솟는 분양가에…청약통장 5년 미만 가입자 3년 새 20%↓">
            <a:extLst>
              <a:ext uri="{FF2B5EF4-FFF2-40B4-BE49-F238E27FC236}">
                <a16:creationId xmlns:a16="http://schemas.microsoft.com/office/drawing/2014/main" id="{735C7A8C-AE52-9327-D3E6-EDCEBCA909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74392" y="2907792"/>
            <a:ext cx="44323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청약의 당락은 가점이 아니라 제도 · 시장 · 정책의 함수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변수는 상시 변동하며, 변동 시점에 준비된 지원자만 기회를 확보합니다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33855" y="4041648"/>
            <a:ext cx="2803443" cy="237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</a:t>
            </a:r>
            <a:r>
              <a:rPr lang="ko-KR" alt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(2022</a:t>
            </a:r>
            <a:r>
              <a:rPr lang="ko-KR" alt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민간분양 청약제도 개선</a:t>
            </a:r>
            <a:r>
              <a:rPr lang="en-US" altLang="ko-KR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추첨제 할당은 규칙으로 고정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투기과열지구 전용 85㎡ 이하 일반공급은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가점제 40% · 추첨제 60%로 배정됩니다.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가점이 낮아도 현금 여력으로 당첨 가능합니다.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5216" y="2212848"/>
            <a:ext cx="3371088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77200" y="2212848"/>
            <a:ext cx="3371088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「주택공급에 관한 규칙」 제28조, 청약홈 공고, Richgo, 언론 보도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5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00D8D4B-7995-2162-A852-BFE89C09C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11035"/>
            <a:ext cx="3371089" cy="16930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청약의 당락은 가점이 아니라 제도 · 시장 · 정책의 함수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변수는 상시 변동하며, 변동 시점에 준비된 지원자만 기회를 확보합니다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assets/hook-04*.jpg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33855" y="4041648"/>
            <a:ext cx="2749655" cy="210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kern="0" spc="10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</a:t>
            </a:r>
            <a:r>
              <a:rPr lang="ko-KR" alt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(2022</a:t>
            </a:r>
            <a:r>
              <a:rPr lang="ko-KR" alt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민간분양 청약제도 개선</a:t>
            </a:r>
            <a:r>
              <a:rPr lang="en-US" altLang="ko-KR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altLang="ko-KR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추첨제 할당은 규칙으로 고정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투기과열지구 전용 85㎡ 이하 일반공급은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가점제 40% · 추첨제 60%로 배정됩니다.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가점이 낮아도 현금 여력으로 당첨 가능합니다.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5216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395216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assets/hook-05*.jpg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95216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1584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95216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395216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하락장에서는 경쟁률이 붕괴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4395216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올림픽파크 포레온은 2022년 고금리 국면에서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포기가 이어져 무순위 청약이 발생했고,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당시 최저 당첨가점은 26점이었습니다.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77200" y="2212848"/>
            <a:ext cx="3371088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「주택공급에 관한 규칙」 제28조, 청약홈 공고, Richgo, 언론 보도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5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B722CBA-CC9B-61BE-8C29-9D80124A3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11035"/>
            <a:ext cx="3371089" cy="169307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0C699E0-D440-2479-301C-4A92C0EDB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215" y="2214003"/>
            <a:ext cx="3371088" cy="169009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E06EFBF-13DF-246B-9BC1-2226A3CAD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005" y="2211035"/>
            <a:ext cx="3835717" cy="39702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청약의 당락은 가점이 아니라 제도 · 시장 · 정책의 함수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변수는 상시 변동하며, 변동 시점에 준비된 지원자만 기회를 확보합니다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assets/hook-04*.jpg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4178808"/>
            <a:ext cx="2950464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kern="0" spc="10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</a:t>
            </a:r>
            <a:r>
              <a:rPr lang="ko-KR" alt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(2022</a:t>
            </a:r>
            <a:r>
              <a:rPr lang="ko-KR" alt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민간분양 청약제도 개선</a:t>
            </a:r>
            <a:r>
              <a:rPr lang="en-US" altLang="ko-KR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altLang="ko-KR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추첨제 할당은 규칙으로 고정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투기과열지구 전용 85㎡ 이하 일반공급은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가점제 40% · 추첨제 60%로 배정됩니다.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가점이 낮아도 현금 여력으로 당첨 가능합니다.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5216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395216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assets/hook-05*.jpg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95216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1584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95216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395216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하락장에서는 경쟁률이 붕괴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4395216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올림픽파크 포레온은 2022년 고금리 국면에서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포기가 이어져 무순위 청약이 발생했고,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당시 최저 당첨가점은 26점이었습니다.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77200" y="2212848"/>
            <a:ext cx="1639824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808464" y="2212848"/>
            <a:ext cx="1639824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077200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97824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77200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077200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공공임대 확대는 청약 </a:t>
            </a:r>
            <a:r>
              <a:rPr lang="en-US" sz="1650" b="1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수요를</a:t>
            </a:r>
            <a:r>
              <a:rPr 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8077200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임대주택 역시 청약 절차로만 공급됩니다.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공공임대 중심 공급 기조는 곧 청약 대상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인구의 확대를 의미합니다.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기회는 시장을 예측한 사람이 아니라, 상시 대비해 둔 사람에게 귀속됩니다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「주택공급에 관한 규칙」 제28조, 청약홈 공고, Richgo, 언론 보도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5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27C0691-3AAE-9B4A-CB57-6F88030D8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11035"/>
            <a:ext cx="3371089" cy="169307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5C466B6-3945-B2DC-3CD2-4FF560B31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215" y="2214003"/>
            <a:ext cx="3371088" cy="169009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FCB49685-4EAD-9971-A49D-CFC048FE8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198" y="2217930"/>
            <a:ext cx="3401570" cy="17034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043951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13232" y="2464575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13232" y="2684031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4000"/>
              </a:lnSpc>
              <a:buNone/>
            </a:pPr>
            <a:r>
              <a:rPr lang="en-US" sz="5200" b="1" kern="0" spc="-16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 청약은,</a:t>
            </a:r>
            <a:endParaRPr lang="en-US" sz="5200" dirty="0"/>
          </a:p>
          <a:p>
            <a:pPr marL="0" indent="0">
              <a:lnSpc>
                <a:spcPct val="124000"/>
              </a:lnSpc>
              <a:buNone/>
            </a:pPr>
            <a:r>
              <a:rPr lang="en-US" sz="5200" b="1" kern="0" spc="-16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</a:t>
            </a:r>
            <a:r>
              <a:rPr lang="en-US" sz="5200" b="1" kern="0" spc="-16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5200" b="1" kern="0" spc="-16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귀찮고 </a:t>
            </a:r>
            <a:r>
              <a:rPr lang="en-US" sz="5200" b="1" kern="0" spc="-16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복잡합니다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4487CCF-3E96-D5D8-D083-FE46020FE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536" y="787010"/>
            <a:ext cx="4086827" cy="52839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FRICTION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확인 · 조건 대조 · 가점 산정 — 어느 하나도 자동화되어 있지 않음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한 건을 넣기 위해 개인이 직접 처리해야 하는 작업입니다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2212848"/>
            <a:ext cx="3371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공고를 살피고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596896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32070" y="2724912"/>
            <a:ext cx="13740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-2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1591056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 출처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822192"/>
            <a:ext cx="3371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청약홈(분양)과 LH청약플러스(임대)가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분리되어 있고, 공급유형은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특별공급 7종 · 공공임대 6종으로 나뉩니다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395216" y="2212848"/>
            <a:ext cx="3371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조건을 맞추고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95216" y="2596896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714054" y="2724912"/>
            <a:ext cx="13740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-2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5273040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</a:t>
            </a:r>
            <a:r>
              <a:rPr lang="ko-KR" altLang="en-US" sz="15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</a:t>
            </a:r>
            <a:r>
              <a:rPr lang="en-US" sz="1500" b="1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95216" y="3822192"/>
            <a:ext cx="3371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무주택 여부 · 세대구성 · 소득 · 자산 ·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거주기간 · 청약통장 — 기준이 공고마다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다르고, 공고문 안에만 적혀 있습니다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077200" y="2212848"/>
            <a:ext cx="3371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가점을 계산하고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77200" y="2596896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458493" y="2724912"/>
            <a:ext cx="1249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-2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</a:t>
            </a:r>
            <a:endParaRPr lang="en-US" sz="6000" dirty="0"/>
          </a:p>
        </p:txBody>
      </p:sp>
      <p:sp>
        <p:nvSpPr>
          <p:cNvPr id="19" name="Text 17"/>
          <p:cNvSpPr txBox="1"/>
          <p:nvPr/>
        </p:nvSpPr>
        <p:spPr>
          <a:xfrm>
            <a:off x="9649968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 만점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77200" y="3822192"/>
            <a:ext cx="3371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무주택기간 32점 + 부양가족수 35점 +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가입기간 17점. 가입월수와 무주택기간을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세어 본인이 산정해야 합니다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" y="5120640"/>
            <a:ext cx="10735056" cy="603504"/>
          </a:xfrm>
          <a:prstGeom prst="rect">
            <a:avLst/>
          </a:prstGeom>
          <a:solidFill>
            <a:srgbClr val="0B1F2A"/>
          </a:solidFill>
          <a:ln w="9525">
            <a:solidFill>
              <a:srgbClr val="0B1F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170432" y="5120640"/>
            <a:ext cx="9820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하나라도 틀리면 — 부적격 당첨 시 지역에 따라 6개월~1년간 청약이 제한됩니다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떨어지는 이유의 상당수는 조건이 아니라 절차입니다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「주택공급에 관한 규칙」 제23조 · 제28조 · 제58조, 청약홈 가점 산정 기준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08698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 WE BUILT IT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13232" y="2507606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13232" y="2727062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4000"/>
              </a:lnSpc>
              <a:buNone/>
            </a:pPr>
            <a:r>
              <a:rPr lang="en-US" sz="5200" b="1" kern="0" spc="-16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</a:t>
            </a:r>
            <a:r>
              <a:rPr lang="en-US" sz="5200" b="1" kern="0" spc="-16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5200" b="1" kern="0" spc="-16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저희</a:t>
            </a:r>
            <a:r>
              <a:rPr lang="ko-KR" altLang="en-US" sz="5200" b="1" kern="0" spc="-16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</a:t>
            </a:r>
            <a:endParaRPr lang="en-US" sz="5200" dirty="0"/>
          </a:p>
          <a:p>
            <a:pPr marL="0" indent="0">
              <a:lnSpc>
                <a:spcPct val="124000"/>
              </a:lnSpc>
              <a:buNone/>
            </a:pPr>
            <a:r>
              <a:rPr lang="ko-KR" altLang="en-US" sz="5200" b="1" kern="0" spc="-16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</a:t>
            </a:r>
            <a:r>
              <a:rPr lang="en-US" sz="5200" b="1" kern="0" spc="-16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만들었습니다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50" dirty="0"/>
          </a:p>
        </p:txBody>
      </p:sp>
      <p:pic>
        <p:nvPicPr>
          <p:cNvPr id="7" name="그림 6" descr="취업보다 창업' 택한 Z세대 역대 최다...1년새 370개 급증">
            <a:extLst>
              <a:ext uri="{FF2B5EF4-FFF2-40B4-BE49-F238E27FC236}">
                <a16:creationId xmlns:a16="http://schemas.microsoft.com/office/drawing/2014/main" id="{AA705556-7926-6EEB-64AA-DDF33BE415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84280" y="1444543"/>
            <a:ext cx="3594488" cy="39689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SERVICE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13232" y="2359152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13232" y="2560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kern="0" spc="-260" dirty="0" err="1">
                <a:solidFill>
                  <a:srgbClr val="111A22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집캐치</a:t>
            </a:r>
            <a:endParaRPr lang="en-US" sz="8400" dirty="0">
              <a:latin typeface="BM HANNA Pro OTF" panose="020B0600000101010101" pitchFamily="34" charset="-127"/>
              <a:ea typeface="BM HANNA Pro OTF" panose="020B0600000101010101" pitchFamily="34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40416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C4650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청약 · 공공임대 통합 탐색 서비스</a:t>
            </a:r>
            <a:endParaRPr lang="en-US" sz="2100" b="1" dirty="0">
              <a:latin typeface="BM HANNA Pro OTF" panose="020B0600000101010101" pitchFamily="34" charset="-127"/>
              <a:ea typeface="BM HANNA Pro OTF" panose="020B0600000101010101" pitchFamily="34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13232" y="45537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7C8791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상시</a:t>
            </a:r>
            <a:r>
              <a:rPr lang="en-US" sz="1500" b="1" dirty="0">
                <a:solidFill>
                  <a:srgbClr val="7C8791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 </a:t>
            </a:r>
            <a:r>
              <a:rPr lang="en-US" sz="1500" b="1" dirty="0" err="1">
                <a:solidFill>
                  <a:srgbClr val="7C8791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대비</a:t>
            </a:r>
            <a:r>
              <a:rPr lang="ko-KR" altLang="en-US" sz="1500" b="1" dirty="0" err="1">
                <a:solidFill>
                  <a:srgbClr val="7C8791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를</a:t>
            </a:r>
            <a:r>
              <a:rPr lang="ko-KR" altLang="en-US" sz="1500" b="1" dirty="0">
                <a:solidFill>
                  <a:srgbClr val="7C8791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 위해 단일 </a:t>
            </a:r>
            <a:r>
              <a:rPr lang="en-US" sz="1500" b="1" dirty="0" err="1">
                <a:solidFill>
                  <a:srgbClr val="7C8791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서비스의</a:t>
            </a:r>
            <a:r>
              <a:rPr lang="en-US" sz="1500" b="1" dirty="0">
                <a:solidFill>
                  <a:srgbClr val="7C8791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 </a:t>
            </a:r>
            <a:r>
              <a:rPr lang="en-US" sz="1500" b="1" dirty="0" err="1">
                <a:solidFill>
                  <a:srgbClr val="7C8791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기능으로</a:t>
            </a:r>
            <a:r>
              <a:rPr lang="en-US" sz="1500" b="1" dirty="0">
                <a:solidFill>
                  <a:srgbClr val="7C8791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 </a:t>
            </a:r>
            <a:r>
              <a:rPr lang="ko-KR" altLang="en-US" sz="1500" b="1" dirty="0">
                <a:solidFill>
                  <a:srgbClr val="7C8791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구현</a:t>
            </a:r>
            <a:endParaRPr lang="en-US" sz="1500" b="1" dirty="0">
              <a:latin typeface="BM HANNA Pro OTF" panose="020B0600000101010101" pitchFamily="34" charset="-127"/>
              <a:ea typeface="BM HANNA Pro OTF" panose="020B0600000101010101" pitchFamily="34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535838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552297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791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청약홈 · LH청약플러스 공공데이터 기반   |   IR 요약자료</a:t>
            </a:r>
            <a:endParaRPr lang="en-US" sz="1200" dirty="0">
              <a:latin typeface="BM HANNA Pro OTF" panose="020B0600000101010101" pitchFamily="34" charset="-127"/>
              <a:ea typeface="BM HANNA Pro OTF" panose="020B0600000101010101" pitchFamily="34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5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8090686-0D9E-844F-0999-B67456489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770" y="182880"/>
            <a:ext cx="5424124" cy="6134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문제는 정보의 부족이 아니라 </a:t>
            </a: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선별 기준의 부재</a:t>
            </a:r>
            <a:endParaRPr lang="en-US" sz="2700" dirty="0">
              <a:highlight>
                <a:srgbClr val="FFFF00"/>
              </a:highligh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공고는 전량 공개되어 있으나, 개인 조건 기준의 선별 수단이 존재하지 않습니다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2560320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2724912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A22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분산</a:t>
            </a:r>
            <a:endParaRPr lang="en-US" sz="1900" dirty="0">
              <a:highlight>
                <a:srgbClr val="FFFF00"/>
              </a:highlight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13232" y="3163824"/>
            <a:ext cx="3371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분양은 청약홈, 임대는 LH청약플러스로 이원화되어 단일 조회 수단이 부재합니다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395216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95216" y="2560320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395216" y="2724912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A22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선별 기능 부재</a:t>
            </a:r>
            <a:endParaRPr lang="en-US" sz="1900" dirty="0">
              <a:highlight>
                <a:srgbClr val="FFFF00"/>
              </a:highlight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395216" y="3163824"/>
            <a:ext cx="3371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· 예산 · 면적 · 가구형태를 기준으로 후보를 좁히는 기능이 제공되지 않습니다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77200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77200" y="2560320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077200" y="2724912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A22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 관리 공백</a:t>
            </a:r>
            <a:endParaRPr lang="en-US" sz="1900" dirty="0">
              <a:highlight>
                <a:srgbClr val="FFFF00"/>
              </a:highlight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077200" y="3163824"/>
            <a:ext cx="3371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· 서류 · 발표 · 계약 일정이 공고문 내부에만 존재해 개인이 직접 관리해야 합니다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4517136"/>
            <a:ext cx="10735056" cy="1024128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70432" y="4517136"/>
            <a:ext cx="9820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공고 데이터를 두고도, 「내가 지금 넣을 수 있는 것」을 판별하는 계층만 비어 있습니다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대상은 정보 접근성이 아니라 판단 지원입니다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청약홈 · LH청약플러스 공고 체계 분석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입력 1회</a:t>
            </a: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지원 가능 후보를 선별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공고 데이터에서 검증 가능한 판단 근거를 생성합니다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5029200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원문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260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모집공고   제12차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공급유형   국민임대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전용면적   —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보증금     —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접수       2026.09.18~09.20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25312" y="3328416"/>
            <a:ext cx="384048" cy="329184"/>
          </a:xfrm>
          <a:prstGeom prst="rightArrow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92240" y="2212848"/>
            <a:ext cx="4956048" cy="2615184"/>
          </a:xfrm>
          <a:prstGeom prst="rect">
            <a:avLst/>
          </a:prstGeom>
          <a:solidFill>
            <a:srgbClr val="0B1F2A"/>
          </a:solidFill>
          <a:ln w="9525">
            <a:solidFill>
              <a:srgbClr val="0B1F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876288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후보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2889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충족 · 예산 이내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876288" y="3474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29㎡        희망 최소 28㎡ 대비 +1㎡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3,200만원  상한 8,000만원 이내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마감        D-3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138928"/>
            <a:ext cx="1073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근거를 점수 구간이 아닌 실측값 차이로 제시합니다 — 「+1㎡」 「4,800만원 초과」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검산할 수 있는 근거만 화면에 남깁니다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집캐치 매칭 엔진 lib/services/matching.ts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JOURNEY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방문부터 재방문까지 </a:t>
            </a: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6단계 단일 흐름</a:t>
            </a:r>
            <a:endParaRPr lang="en-US" sz="2700" dirty="0">
              <a:highlight>
                <a:srgbClr val="FFFF00"/>
              </a:highligh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지점마다 별도 화면이 아닌 하나의 연속 동선으로 설계했습니다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12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방문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3090672" y="2267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0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열람 전 서비스 가치 인지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3232" y="312724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33649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310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입력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3364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/analyze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67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→ 주거비 → 가구 · 선호 3단계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" y="422452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1323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확인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3090672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/results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864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충족 · 예산 초과 분리 제시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" y="532180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29107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212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· 알림</a:t>
            </a:r>
            <a:endParaRPr lang="en-US" sz="1750" dirty="0"/>
          </a:p>
        </p:txBody>
      </p:sp>
      <p:sp>
        <p:nvSpPr>
          <p:cNvPr id="23" name="Text 21"/>
          <p:cNvSpPr txBox="1"/>
          <p:nvPr/>
        </p:nvSpPr>
        <p:spPr>
          <a:xfrm>
            <a:off x="8668512" y="2267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/saved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670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관심공고 저장 및 알림 수신 설정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91072" y="312724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291072" y="33649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310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</a:t>
            </a:r>
            <a:endParaRPr lang="en-US" sz="1750" dirty="0"/>
          </a:p>
        </p:txBody>
      </p:sp>
      <p:sp>
        <p:nvSpPr>
          <p:cNvPr id="28" name="Text 26"/>
          <p:cNvSpPr txBox="1"/>
          <p:nvPr/>
        </p:nvSpPr>
        <p:spPr>
          <a:xfrm>
            <a:off x="8668512" y="3364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767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기반 계정 생성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91072" y="422452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29107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재방문</a:t>
            </a:r>
            <a:endParaRPr lang="en-US" sz="1750" dirty="0"/>
          </a:p>
        </p:txBody>
      </p:sp>
      <p:sp>
        <p:nvSpPr>
          <p:cNvPr id="33" name="Text 31"/>
          <p:cNvSpPr txBox="1"/>
          <p:nvPr/>
        </p:nvSpPr>
        <p:spPr>
          <a:xfrm>
            <a:off x="8668512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알림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4864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공고 · 마감 임박 알림으로 재유입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91072" y="532180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CRM은 내부 운영 자산이며 소비자 판매 상품이 아닙니다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집캐치 소비자 화면 구성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INTEGRITY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부동산 서비스의 </a:t>
            </a: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 훼손 요인을 사전 차단</a:t>
            </a:r>
            <a:endParaRPr lang="en-US" sz="2700" dirty="0">
              <a:highlight>
                <a:srgbClr val="FFFF00"/>
              </a:highligh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정확도보다 「틀린 것을 말하지 않는 것」을 우선 원칙으로 삼았습니다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23591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당첨 확률 미산출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7121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데이터만으로는 개인별 확률 산출 근거가 부재합니다. 과거 당첨가점 비교만 제공하며, 표본 부재 시 「자료 부족」으로 표기합니다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2212848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291072" y="23591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결측값 미보완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287121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청약홈 분양정보의 전용면적 · 보증금 · 월임대료는 null을 유지한 뒤 「미공개」로 표기합니다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3968496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13232" y="411480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 구분 표기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46268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원문 기한은 OFFICIAL, 역산한 준비일은 RECOMMENDED로 구분해 표기합니다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91072" y="3968496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291072" y="411480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</a:t>
            </a:r>
            <a:r>
              <a:rPr lang="en-US" sz="1800" b="1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</a:t>
            </a:r>
            <a:r>
              <a:rPr lang="en-US" sz="18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46268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실패 시 sources[]에 원문 그대로 반영하며, 합성 데이터로 대체하지 않습니다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과장하지 않는 것이 이 영역에서 가장 빠른 신뢰 축적 경로입니다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집캐치 데이터 수집 · 표기 규정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SOURCE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분양 · 임대로 이원화된 출처를 </a:t>
            </a: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서비스로 통합</a:t>
            </a:r>
            <a:endParaRPr lang="en-US" sz="2700" dirty="0">
              <a:highlight>
                <a:srgbClr val="FFFF00"/>
              </a:highligh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경로와 데이터 성격을 공고 단위로 명시합니다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10735056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23591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청약홈</a:t>
            </a:r>
            <a:endParaRPr lang="en-US" sz="2400" dirty="0">
              <a:solidFill>
                <a:srgbClr val="FFC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273552" y="235915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민영주택 일반 및 </a:t>
            </a:r>
            <a:r>
              <a:rPr lang="en-US" sz="1300" dirty="0" err="1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분양</a:t>
            </a:r>
            <a:r>
              <a:rPr 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모집공고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217152" y="235915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공공데이터포털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10735056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31455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LH 청약플러스</a:t>
            </a:r>
            <a:endParaRPr lang="en-US" sz="2400" dirty="0">
              <a:solidFill>
                <a:srgbClr val="FFC000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273552" y="314553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국민임대 · 행복주택 · 매입임대 · 통합공공임대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217152" y="314553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공공데이터포털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3785616"/>
            <a:ext cx="10735056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13232" y="3931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CSV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3273552" y="393192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직접 등록 공고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217152" y="393192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업로드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4572000"/>
            <a:ext cx="10735056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13232" y="47183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3273552" y="471830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구성용 합성 데이터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217152" y="471830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dataOrigin: SYNTHETIC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" y="5358384"/>
            <a:ext cx="10735056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13232" y="5358384"/>
            <a:ext cx="10735056" cy="64008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170432" y="5358384"/>
            <a:ext cx="9820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공고는 「공식 공고」, 합성 데이터는 「예시 공고」로 화면에서 구분 표기합니다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출처와 성격이 구분되지 않은 데이터는 화면에 올리지 않습니다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공공데이터포털 API 연동 현황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ko-KR" alt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</a:t>
            </a:r>
            <a:r>
              <a:rPr lang="en-US" sz="2700" b="1" kern="0" spc="-40" dirty="0" err="1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</a:t>
            </a: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CRM 운영을 </a:t>
            </a: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Routines 12종으로 자동화</a:t>
            </a:r>
            <a:endParaRPr lang="en-US" sz="2700" dirty="0">
              <a:highlight>
                <a:srgbClr val="FFFF00"/>
              </a:highligh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인력 증원 없이 고객 응대 · 발송 · 점검 주기를 고정했습니다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91072" y="2212848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23408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10512" y="23408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상태 점검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3232" y="2770632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28529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07:30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10512" y="28529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 데이터 품질 점검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13232" y="3282696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13232" y="33649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810512" y="33649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임박 고객 알림 · 메일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" y="3794760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13232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08:30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10512" y="38770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CRM 운영 브리핑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13232" y="4306824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13232" y="43891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810512" y="43891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추천 공고 알림 · 메일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13232" y="481888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13232" y="490118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810512" y="49011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연락할 고객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13232" y="5330952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291072" y="23408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88352" y="23408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고의도 고객 감지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91072" y="2770632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291072" y="28529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10:30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88352" y="28529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 진행 고객 점검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91072" y="3282696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6291072" y="33649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18:00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388352" y="33649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전환 퍼널 점검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91072" y="3794760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291072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매시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388352" y="38770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변경 감시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91072" y="4306824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6291072" y="43891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매시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388352" y="43891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 실패 재처리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291072" y="481888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6291072" y="490118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월요일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388352" y="49011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CRM KPI 리포트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291072" y="5330952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713232" y="5413248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실데이터 조회 · Gmail 발송 · 실행 이력 자동 적재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비용이 고객 수에 비례해 증가하지 않는 구조입니다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Claude Routines 등록 현황 (Asia/Seoul 기준)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MODEL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확장 → 구독 전환 → B2B 데이터의 </a:t>
            </a: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수익화</a:t>
            </a:r>
            <a:endParaRPr lang="en-US" sz="2700" dirty="0">
              <a:highlight>
                <a:srgbClr val="FFFF00"/>
              </a:highlight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3단계가 실질 매출 축에 해당하며, 1 · 2단계는 데이터 축적 단계입니다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944368"/>
            <a:ext cx="337108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024128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A22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확장</a:t>
            </a:r>
            <a:endParaRPr lang="en-US" sz="2100" dirty="0">
              <a:highlight>
                <a:srgbClr val="FFFF00"/>
              </a:highlight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24128" y="4133088"/>
            <a:ext cx="274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기능 무료 제공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· 관심공고 데이터 확보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4128" y="5010912"/>
            <a:ext cx="274929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024128" y="5102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  월간 활성 사용자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95216" y="2624328"/>
            <a:ext cx="3371088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706112" y="2898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06112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A22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 전환</a:t>
            </a:r>
            <a:endParaRPr lang="en-US" sz="2100" dirty="0">
              <a:highlight>
                <a:srgbClr val="FFFF00"/>
              </a:highlight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706112" y="3813048"/>
            <a:ext cx="274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알림 · 정밀 후보 리포트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자격 자가진단 유료화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6112" y="4690872"/>
            <a:ext cx="274929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706112" y="47823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  유료 전환율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7200" y="2304288"/>
            <a:ext cx="3371088" cy="3291840"/>
          </a:xfrm>
          <a:prstGeom prst="rect">
            <a:avLst/>
          </a:prstGeom>
          <a:solidFill>
            <a:srgbClr val="0B1F2A"/>
          </a:solidFill>
          <a:ln w="9525">
            <a:solidFill>
              <a:srgbClr val="0B1F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388096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388096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highlight>
                  <a:srgbClr val="FFFF00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데이터</a:t>
            </a:r>
            <a:endParaRPr lang="en-US" sz="2100" dirty="0">
              <a:highlight>
                <a:srgbClr val="FFFF00"/>
              </a:highlight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388096" y="3493008"/>
            <a:ext cx="274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시행사 · 분양대행사 대상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 · 조건 분포 분석 제공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88096" y="4370832"/>
            <a:ext cx="2749296" cy="0"/>
          </a:xfrm>
          <a:prstGeom prst="line">
            <a:avLst/>
          </a:prstGeom>
          <a:noFill/>
          <a:ln w="12700">
            <a:solidFill>
              <a:srgbClr val="3546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388096" y="4462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  계약 단지 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축적된 조건 · 관심공고 데이터는 경쟁사가 복제할 수 없는 자산입니다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집캐치 사업계획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714754"/>
            <a:ext cx="1371600" cy="50292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188720" y="202336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0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공고는 이미 공개되어 있습니다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375916"/>
            <a:ext cx="97840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부재한 것은 정보가 아니라</a:t>
            </a:r>
            <a:endParaRPr lang="en-US" sz="42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선별의 기준입니다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44373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집캐치는 그 기준을 제공합니다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943600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20" dirty="0">
                <a:solidFill>
                  <a:srgbClr val="6E7B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  ·  ZipCatch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1650</Words>
  <Application>Microsoft Macintosh PowerPoint</Application>
  <PresentationFormat>와이드스크린</PresentationFormat>
  <Paragraphs>322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BM HANNA Pro OTF</vt:lpstr>
      <vt:lpstr>Pretendard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집캐치 IR</dc:title>
  <dc:subject>PptxGenJS Presentation</dc:subject>
  <dc:creator>ZipCatch</dc:creator>
  <cp:lastModifiedBy>김유빈</cp:lastModifiedBy>
  <cp:revision>7</cp:revision>
  <dcterms:created xsi:type="dcterms:W3CDTF">2026-09-17T03:56:31Z</dcterms:created>
  <dcterms:modified xsi:type="dcterms:W3CDTF">2026-09-17T09:25:14Z</dcterms:modified>
</cp:coreProperties>
</file>